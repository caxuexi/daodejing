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8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41" r:id="rId85"/>
    <p:sldId id="339" r:id="rId8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heme" Target="theme/theme1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一同走进《道德经》的世界。这部被誉为“万经之王”的古老智慧宝典，蕴含着关于宇宙、人生和社会的深刻洞见。本次分享将结合韩鹏杰教授的极简白话译文，逐章解读这81篇经典，希望能帮助大家更直观地理解其中的智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《道德经》全书共81章，分为上下两篇。上篇《道经》，从第一章到第三十七章，主要阐述宇宙的本源、万物的规律，即“道”。下篇《德经》，从第三十八章到第八十一章，则侧重于探讨为人处世的准则和治国安邦的智慧，即“德”。接下来，我们将依次学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第一章，这是《道德经》的总纲。开篇就提出了一个核心概念：“道”。老子告诉我们，真正的“道”是无法用语言完全描述的。它既是“无”，也是“有”，是宇宙万物的起源和规律。我们通过无欲和有欲两种状态，可以从不同角度去体悟“道”的玄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章揭示了对立统一的规律。美与丑、善与恶、有与无，这些看似相反的概念其实是相互依存的。基于此，老子提出了“无为而治”的思想。圣人顺应自然，不强行干预，反而能成就一切。这告诉我们，有时候不刻意去做，反而能做得更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章具体阐述了“无为而治”的治国理念。核心是减少刺激，让百姓内心平静，生活安稳。通过淡化名利、抑制欲望，达到社会和谐安定的目的。这并非愚民政策，而是一种返璞归真的治理智慧，强调顺应自然，减少人为干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第四章继续描绘“道”的特性。道是空虚的，却能发挥无限作用。它能化解矛盾，收敛锋芒，融入万物。这种“挫其锐，解其纷，和其光，同其尘”的智慧，对于个人修养和处理人际关系都有重要启示。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章提出了一个重要观点：“天地不仁”。这里的“不仁”并非冷酷无情，而是指天地遵循客观规律，对万物一视同仁，没有偏爱。圣人治理天下也应如此，不感情用事，不随意干预，让事物自然发展。这也提醒我们，少说多做，保持内心的平静和中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第六章用“玄牝”来比喻“道”，将其视为孕育天地万物的母体。这个“门户”是万物的根源，它永恒存在，生生不息。这体现了老子对生命本源的深刻思考。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第七章揭示了“无私”与“成私”的辩证关系。天地因为无私而长久，圣人因为无私反而能成就自己。这告诉我们，真正的智慧在于放下自我，服务他人，最终反而能实现自身的价值。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八章是《道德经》中非常著名的一章，以水喻道。水的品格——利万物而不争、处下、包容，正是“道”的体现。老子教导我们，为人处世应像水一样，谦逊、包容、顺应自然，这样才能避免过失，达到和谐的境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第九章讲的是“满招损，谦受益”的道理。凡事都不能过度，过于盈满、过于锋利、过于富贵，都难以长久。老子告诫我们，要懂得知足，功成名就后要懂得急流勇退，这才是符合天道的智慧。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第十章提出了一系列修身治国的反问，核心是回归本源，达到“玄德”的境界。无论是个人修养还是治理国家，都要像婴儿一样保持纯真柔和，做到无为、谦虚、不占有、不主宰。这是一种极高的精神境界。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第十一章通过车轮、器皿、房屋等例子，阐述了“有”和“无”的辩证关系。“有”是实体，“无”是空间，二者相辅相成。这告诉我们，要重视“无”的价值，有时候空无的部分恰恰是发挥作用的关键。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第十二章提醒我们警惕过度的感官刺激。五色、五音、五味等虽然能带来一时的快乐，但过度追求会损害我们的身心。老子提倡“为腹不为目”，即注重内在的充实和安宁，而非外在的感官享受。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第十三章探讨了宠辱和祸患的根源。老子认为，宠辱不惊的关键在于超越对自身的执着。只有当一个人能够将天下的安危视为自己的安危时，他才具备承担天下重任的资格。这是一种无私忘我的崇高境界。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第十四章进一步描述了“道”的不可感知性。道是无形、无声、无迹的，它超越了人类的感官认知。但我们可以通过把握道的规律，来理解和应对现实世界的万事万物。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第十五章描绘了得道者的形象。他们谨慎、警觉、谦逊、包容，像水一样能静能动。这种不追求圆满的态度，反而能不断获得新生。这是一种极高的个人修养境界。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第十六章是重要的修养方法。通过“致虚极，守静笃”，我们可以观察到万物循环往复的规律，最终回归到生命的本源。认识并遵循这个永恒的规律，我们就能获得智慧，行事公正，从而长久安宁。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第十七章论述了不同层次的统治境界。最高明的统治者是“无为而治”，百姓感觉不到他的存在，一切都自然而然。这是一种“润物细无声”的管理智慧。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第十八章揭示了一个深刻的道理：当社会需要大力提倡某种道德时，恰恰说明这种道德在现实中已经缺失。仁义、孝慈、忠臣的出现，正反映了大道废弃、家庭不和、国家昏乱的社会现实。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第十九章提出了“绝圣弃智”的观点。老子认为，过多的智慧、仁义、技巧反而会带来虚伪和纷争。真正的解决之道在于回归朴素，减少私欲，让社会恢复自然和谐的状态。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第二十章表达了老子与众不同的价值观。他不追求世俗的名利和享乐，宁愿保持一种“愚人”般的淡泊和混沌状态。这种看似愚笨的外表下，蕴含着对“道”的深刻理解和坚守。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第二十一章再次描述了道的特性。道虽然恍惚，但其中有象、有物、有精、有信。它是真实存在的，是我们认识万物起源的依据。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第二十二章阐述了“曲则全”的智慧。委曲求全、谦虚处下，反而能获得更大的成功。这是一种以退为进、以柔克刚的处世哲学。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第二十三章强调了“希言自然”的道理。任何极端的事物都不能持久，人也应该顺应自然，少说多做。我们的行为会决定我们成为什么样的人，与道同行，才能获得道的庇佑。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第二十四章告诫我们不要做那些违背自然规律的事情。急于求成、自我炫耀只会适得其反。有道的人会避免这些多余的、有害的行为。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第二十五章是《道德经》的核心章节之一，明确提出了“道”的概念，并阐述了宇宙的生成顺序：道生天地，天地生人。最重要的是提出了“道法自然”的最高原则，即道遵循的是它自己本来的样子。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第二十六章强调了稳重和宁静的重要性。无论是个人还是统治者，都应该保持沉稳，戒除轻率和躁动。这是立身之本，也是治国之道。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第二十七章描述了“善”的最高境界。真正的善是自然而然、不留痕迹的。圣人能够包容一切，教化一切，甚至从不善之人身上也能学到东西。这是一种极高的智慧。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第二十八章教导我们要知雄守雌、知白守黑、知荣守辱。这是一种以柔克刚、以退为进的智慧。通过保持谦逊和质朴，我们才能回归到生命的本源，达到更高的境界。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第二十九章再次强调“无为”的重要性。天下是神圣的，不能用强力去控制。强行作为只会导致失败。圣人治理天下，要顺应自然，避免极端和过度的行为。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第三十章表达了老子的反战思想。他认为武力是不祥之器，用兵只会带来灾难。即使必须用兵，也要适可而止，不能逞强好胜。物壮则老，过于强大反而会加速灭亡。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第三十一章进一步阐述了反战思想。兵器是不祥之器，即使使用，也要怀着悲痛和谨慎的心情，而不是炫耀胜利。这体现了老子对生命的尊重和对和平的向往。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第三十二章说明“道”虽然无名质朴，但其力量无穷。统治者如果能遵循道，天下自然安定。同时提醒我们，制度和名称一旦建立，就要懂得节制，否则就会带来危险。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第三十三章是关于个人修养的经典论述。老子强调“自知”和“自胜”的重要性，认为这比了解和战胜别人更有价值。同时，知足、有志、坚守根本，才能获得真正的富足、长久和不朽。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第三十四章描述了道的伟大。道无处不在，滋养万物而不居功，不自大，这正是它之所以伟大的原因。这也启示我们，真正的伟大在于无私和谦逊。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第三十五章对比了大道与世俗享乐的不同。世俗的享乐（音乐、美食）只能吸引人一时，而大道虽然平淡无味，却能带来长久的和平与安宁，其作用无穷无尽。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第三十六章揭示了物极必反的规律。想要达到某个目的，有时需要先向相反的方向发展。这是一种以柔克刚、欲擒故纵的策略。同时提醒我们，要保护好自己的根本和核心优势。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第三十七章是《道经》的结尾，再次强调“无为而无不为”的核心思想。统治者只要守住道，万物自然会和谐发展。如果产生了欲望，就要用“朴”来克制，最终达到天下安定的目的。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《德经》开篇，老子对德、仁、义、礼进行了层次划分。他认为，最高的德是自然无为的，而礼是忠信不足的产物，是祸乱的开端。真正的大丈夫应该坚守淳厚和实在，而不是追求虚华的礼和智。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第三十九章强调了“一”（道）的重要性。天地万物乃至侯王，都必须遵循道才能存在和发展。老子进一步指出，尊贵建立在卑贱之上，高大建立在低下之上，所以统治者要保持谦逊，追求质朴而非华丽。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十章是《道德经》中最核心的哲学命题之一。“反者道之动”揭示了事物发展变化的规律——物极必反。“弱者道之用”则指出了道发挥作用的方式是柔弱的。最后，“有生于无”点明了万物的本源是无形的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第四十一章描述了不同的人对道的不同态度。真正的道往往与世俗的认知相反，所以不被常人理解甚至嘲笑。老子列举了一系列看似矛盾的现象，如“明道若昧”、“大器晚成”，旨在说明道的深奥和独特。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第四十二章阐述了宇宙的生成过程：道生一，一生二（阴阳），二生三（阴阳和合），三生万物。万物都是阴阳和合的产物。老子再次强调了损与益的辩证关系，并指出强暴者没有好下场。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第四十三章再次强调了柔弱的力量。最柔软的东西（如水）可以战胜最坚硬的东西。无形的道可以穿透一切。这让我们认识到“无为”的巨大益处，这种不言之教，是常人难以企及的智慧。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第四十四章探讨了名、利与生命的关系。老子认为，生命比名声和财物更重要。过度追求名利只会带来损害。懂得知足和适可而止，才能保全自己，获得长久的安宁。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第四十五章继续阐述“反者道之动”的思想。真正的圆满、充盈、正直、灵巧、善辩，往往表现出相反的样子。老子最后指出，清静是治理天下的根本准则。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第四十六章通过对比有道和无道时战马的不同用途，揭示了战争的根源在于统治者的贪欲。老子再次强调，不知足是最大的祸患，只有内心的知足，才是真正的富足。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第四十七章强调了内心自省的重要性。真正的智慧来源于对道的体悟，而不是对外在世界的盲目探索。圣人通过静心内观，就能洞悉天下万物的规律。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第四十八章对比了“为学”和“为道”的不同路径。为学是做加法，为道是做减法，不断减少私欲和妄为，最终达到“无为而无不为”的境界。这也是治理天下的根本法则。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第四十九章阐述了圣人的治国理念。圣人没有私心，完全以百姓的利益为出发点。通过包容和信任，引导百姓向善、守信，使社会回归淳朴。这是一种无私的大爱。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第五十章探讨了生死问题。老子认为，很多人的早逝是因为过度追求物质享受。而善于养生的人，因为内心平和，顺应自然，所以能远离危险，达到一种“无死地”的境界。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第五十一章阐述了道与德在万物生成和发展中的作用。道是本源，德是养育。道和德的伟大之处在于它们生养万物而不占有、不恃功、不主宰，这就是“玄德”。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第五十二章教导我们要回归本源。认识到万物的根源（母），并坚守它，就能终身无虞。方法是堵塞感官，克制欲望，保持内心的明和柔。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第五十三章批判了统治者的腐败和无道。他们不顾百姓死活，只顾自己享乐，就像强盗头子一样。老子借此警示人们，要走平坦的大道，而不是危险的小路。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第五十四章阐述了修养道德的步骤和方法。从修身开始，逐步扩展到齐家、治国、平天下。这种由内而外、由小到大的修养路径，是中国传统文化的重要思想。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第五十五章将得道之人比作赤子。婴儿之所以能免受伤害，是因为他内心纯净，没有欲望，与自然和谐一体。这告诉我们，保持内心的平和与纯真，是最高的修养境界。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第五十六章描述了得道者的境界——“玄同”。他们收敛锋芒，融入世俗，达到了一种无亲疏、无利害、无贵贱的超然状态。这是一种极高的精神自由。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第五十七章系统阐述了“无为而治”的治国理念。老子认为，过多的禁令、利器、技巧和法令只会带来负面效果。真正的治理之道是无为、好静、无事、无欲，让百姓自然发展。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第五十八章揭示了祸福相依的道理。政治的宽严会直接影响民风。老子提醒我们，事物是不断转化的，没有绝对的好坏。因此，圣人处世要把握好分寸，做到方而不割、直而不肆。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第五十九章强调了“啬”（节俭、收敛）的重要性。无论是修身还是治国，节俭都是根本。通过节俭，我们可以积累德行，增强力量，最终达到长久的目标。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第六十章用“烹小鲜”来比喻治理大国，强调要顺应自然，不要过度干预。当统治者用道来治理天下时，就能达到一种和谐的状态，连鬼神都不会作祟，最终让百姓受益。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第六十一章阐述了国与国之间的相处之道。无论是大国还是小国，都应该保持谦下。特别是大国，更应该像江河下游一样，包容万物，这样才能赢得尊重，实现和平共处。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第六十二章强调了道的普适性和宝贵价值。道不仅是善人的珍宝，也能保护不善的人。它的价值远远超过任何物质财富。无论对谁，道都具有巨大的意义。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第六十三章提供了具体的做事方法。要以无为的心态做事，从易到难，从小到大。同时，要谨慎许诺，重视困难，这样才能最终成就大事，避免困难。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第六十四章强调了防患于未然和循序渐进的重要性。无论是做事还是治国，都要在问题出现之前就加以防范。同时，要脚踏实地，从基础做起。圣人通过无为和无执，避免失败，并帮助万物自然发展。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第六十五章再次提到“愚民”思想，这里的“愚”是指淳朴、纯真，而非愚蠢。老子认为，过多的智谋会导致社会混乱，因此治理国家要让百姓回归质朴，这才是真正的福分。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第六十六章以江海为喻，说明谦下的重要性。圣人要想得到百姓的拥护，就必须放低姿态，把自己的利益放在百姓之后。这种不争的态度，反而能赢得天下。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第六十七章提出了老子的“三宝”：慈、俭、不敢为天下先。这三者是修身和治国的法宝。慈爱能带来真正的勇敢，节俭能带来真正的宽广，谦让能带来真正的领先。舍弃这三宝，就会走向灭亡。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第六十八章阐述了军事和用人的智慧。真正的善战者，不是靠武力和愤怒，而是靠谋略和谦下。不争，反而能赢得胜利；谦下，反而能调动他人的力量。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第六十九章继续阐述军事思想。老子主张后发制人，以退为进。他强调不要轻敌，并指出在势均力敌的情况下，怀有悲悯之心的一方会取得胜利。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第七十章表达了老子的孤独和无奈。他认为自己的思想简单易行，但世人却难以理解和践行。真正有智慧的人，往往像“被褐怀玉”一样，外表朴素，内心却蕴藏着宝贵的智慧。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第七十一章强调了自知之明的重要性。真正的智慧在于认识到自己的无知。只有正视自己的不足，才能不断进步，避免犯错。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第七十二章告诫统治者，不要过度压迫百姓，否则会引发更大的反抗。圣人应该有自知之明，懂得自爱，而不是自我炫耀和高贵。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第七十三章对比了两种不同的“勇”。勇于逞强是找死，勇于柔弱才是真正的生存智慧。这背后是天道的规律：不争而胜，不言而应，天网恢恢，疏而不漏。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第七十四章批判了统治者滥用死刑的做法。当百姓被逼得走投无路时，就不会畏惧死亡。统治者代替天道去执行惩罚，最终只会伤害到自己。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第七十五章深刻揭示了社会问题的根源。百姓的饥饿、难治和轻死，都是由于统治者的贪婪和过度作为造成的。老子提倡一种超然的生死观，认为不刻意追求生命，反而能更好地保全生命。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第七十六章通过对比生死、草木，再次强调了柔弱的生命力。坚强的事物容易走向灭亡，而柔弱的事物则充满生机。这告诉我们，为人处世要保持柔韧，不要过于刚强。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第七十七章对比了天道和人道。天道是公平的，损有余而补不足。而人道则往往是损不足而奉有余，造成贫富差距。只有有道的圣人，才能遵循天道，做到公平无私。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第七十八章再次以水为喻，说明柔弱胜刚强的道理。虽然人人都知道这个道理，但很少有人能真正做到。真正的君主，要有勇气承担国家的耻辱和灾难，这正是“正言若反”的体现。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第七十九章讨论了如何处理怨恨。老子认为，强行调和怨恨或简单地以德报怨都不是最好的办法。圣人的做法是宽容和不追究。天道是公平的，总会眷顾善良的人。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第八十章描绘了老子理想中的社会——“小国寡民”。这是一个没有纷争、没有欲望、自给自足、宁静和谐的社会。虽然这在现实中难以实现，但它代表了一种对和平与质朴生活的向往。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F2394-0D09-ABED-7F74-5690E7B19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0DE221-3F20-0912-ADD5-135ADA79AF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0AAF3-1BCB-4268-7DF3-E945799DD6E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A16827C-7CD7-F43C-FFD2-B45D4DCF8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C60E5F0-50B3-8A73-3BF4-3F8F58227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第八十一章是《道德经》的结尾，总结了全书的核心思想。真实与华丽、善良与辩解、真知与广博，都是对立的。圣人的境界是无私奉献，因为天道是利而不害，圣人之道是为而不争。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FDA94-FFEC-BB88-52CD-9F2474199E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68382-3AE4-4558-9B96-E70C67F33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8259409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《道德经》的智慧博大精深，短短几十页的分享只是管中窥豹。希望通过今天的解读，能为大家打开一扇通往古老智慧的大门。道可道，非常道，真正的理解需要我们在生活中不断体悟和实践。感谢大家的聆听！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5D4037"/>
                </a:solidFill>
                <a:latin typeface="Kaiti SC"/>
                <a:ea typeface="Kaiti SC"/>
                <a:cs typeface="Kaiti SC"/>
                <a:sym typeface="Kaiti SC"/>
              </a:rPr>
              <a:t>道德经说什么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810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spc="20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韩鹏杰极简白话译文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953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E342E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“道可道，非常道；名可名，非常名。”</a:t>
            </a:r>
            <a:br>
              <a:rPr lang="en-US" sz="1600" b="0" i="0" u="none" strike="noStrike">
                <a:solidFill>
                  <a:srgbClr val="4E342E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sz="1600" b="0" i="0" u="none" strike="noStrike">
                <a:solidFill>
                  <a:srgbClr val="4E342E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穿越千年的智慧经典，探寻宇宙万物的本源与处世哲学。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17200" y="5461000"/>
            <a:ext cx="812800" cy="812800"/>
          </a:xfrm>
          <a:prstGeom prst="roundRect">
            <a:avLst>
              <a:gd name="adj" fmla="val 0"/>
            </a:avLst>
          </a:prstGeom>
          <a:solidFill>
            <a:srgbClr val="B22222">
              <a:alpha val="75000"/>
            </a:srgbClr>
          </a:solidFill>
          <a:ln w="12700" cap="flat" cmpd="sng">
            <a:solidFill>
              <a:srgbClr val="8B0000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617200" y="5461000"/>
            <a:ext cx="81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94902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智慧</a:t>
            </a:r>
            <a:br>
              <a:rPr lang="en-US" sz="1800" b="1" i="0" u="none" strike="noStrike">
                <a:solidFill>
                  <a:srgbClr val="FFFFFF">
                    <a:alpha val="94902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800" b="1" i="0" u="none" strike="noStrike">
                <a:solidFill>
                  <a:srgbClr val="FFFFFF">
                    <a:alpha val="94902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之源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9F4EB">
              <a:alpha val="6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222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壹 · 道经（上篇）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304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9352B"/>
                </a:solidFill>
                <a:latin typeface="Kaiti SC"/>
                <a:ea typeface="Kaiti SC"/>
                <a:cs typeface="Kaiti SC"/>
                <a:sym typeface="Kaiti SC"/>
              </a:rPr>
              <a:t>章节：第一章 至 第三十七章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19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1E14">
                    <a:alpha val="70196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此篇追溯宇宙万物的本源与演化规律，以“道”为核心，揭示天地运行的根本法则。它探讨自然无为、反璞归真的哲学思想，为修身与治国提供了形而上的理论根基，是整部经典的灵魂所在。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905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9F4EB">
              <a:alpha val="6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2222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贰 · 德经（下篇）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304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9352B"/>
                </a:solidFill>
                <a:latin typeface="Kaiti SC"/>
                <a:ea typeface="Kaiti SC"/>
                <a:cs typeface="Kaiti SC"/>
                <a:sym typeface="Kaiti SC"/>
              </a:rPr>
              <a:t>章节：第三十八章 至 第八十一章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3619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1E14">
                    <a:alpha val="70196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此篇侧重阐释为人处世的德行修养与治国安邦的实践智慧。它将抽象的“道”转化为具体的人生准则与政治方略，强调顺应自然、柔弱守中，彰显了人道与天道的和谐统一，是道家思想的实践延伸。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651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8C4B3D">
                    <a:alpha val="85098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“道生之，德畜之，物形之，势成之。”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第一章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091297"/>
            <a:ext cx="4699000" cy="22594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道可道，非常道；名可名，非常名</a:t>
            </a:r>
            <a:r>
              <a:rPr lang="en-US" sz="1600" b="0" i="0" u="none" strike="noStrike" dirty="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</a:p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无</a:t>
            </a:r>
            <a:r>
              <a:rPr lang="zh-CN" altLang="en-US" sz="1600" dirty="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，</a:t>
            </a:r>
            <a:r>
              <a:rPr lang="en-US" sz="1600" b="0" i="0" u="none" strike="noStrike" dirty="0" err="1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名天地之始；有</a:t>
            </a:r>
            <a:r>
              <a:rPr lang="zh-CN" altLang="en-US" sz="1600" b="0" i="0" u="none" strike="noStrike" dirty="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，</a:t>
            </a:r>
            <a:r>
              <a:rPr lang="en-US" sz="1600" b="0" i="0" u="none" strike="noStrike" dirty="0" err="1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名万物之母。故常无</a:t>
            </a:r>
            <a:r>
              <a:rPr lang="zh-CN" altLang="en-US" sz="1600" b="0" i="0" u="none" strike="noStrike" dirty="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，</a:t>
            </a:r>
            <a:r>
              <a:rPr lang="en-US" sz="1600" b="0" i="0" u="none" strike="noStrike" dirty="0" err="1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欲以观其妙；常有</a:t>
            </a:r>
            <a:r>
              <a:rPr lang="zh-CN" altLang="en-US" sz="1600" b="0" i="0" u="none" strike="noStrike" dirty="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，</a:t>
            </a:r>
            <a:r>
              <a:rPr lang="en-US" sz="1600" b="0" i="0" u="none" strike="noStrike" dirty="0" err="1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欲以观其徼</a:t>
            </a:r>
            <a:r>
              <a:rPr lang="en-US" sz="1600" b="0" i="0" u="none" strike="noStrike" dirty="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</a:p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此两者，同出而异名，同谓之玄</a:t>
            </a:r>
            <a:r>
              <a:rPr lang="en-US" sz="1600" b="0" i="0" u="none" strike="noStrike" dirty="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</a:p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玄之又玄，众妙之门</a:t>
            </a:r>
            <a:r>
              <a:rPr lang="en-US" sz="1600" b="0" i="0" u="none" strike="noStrike" dirty="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6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905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8575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41666"/>
              </a:lnSpc>
              <a:defRPr/>
            </a:pPr>
            <a:r>
              <a:rPr lang="en-US" sz="1500" b="0" i="0" u="none" strike="noStrike" dirty="0">
                <a:solidFill>
                  <a:srgbClr val="3C3C3C"/>
                </a:solidFill>
                <a:latin typeface="Kaiti SC"/>
                <a:ea typeface="Kaiti SC"/>
                <a:cs typeface="Kaiti SC"/>
                <a:sym typeface="Kaiti SC"/>
              </a:rPr>
              <a:t>可以言说的道，并非永恒不变的道；可以命名的名，并非永恒不变的名。“无”是天地的本初，“有”是万物的根源。因此，常保持无欲的心境，才能体察道的玄妙；常保持有欲的状态，才能窥见道的端倪。这两者（无和有），</a:t>
            </a:r>
            <a:r>
              <a:rPr lang="en-US" sz="1500" b="0" i="0" u="none" strike="noStrike" dirty="0" err="1">
                <a:solidFill>
                  <a:srgbClr val="3C3C3C"/>
                </a:solidFill>
                <a:latin typeface="Kaiti SC"/>
                <a:ea typeface="Kaiti SC"/>
                <a:cs typeface="Kaiti SC"/>
                <a:sym typeface="Kaiti SC"/>
              </a:rPr>
              <a:t>本源相同而称谓不同，都可称作深远莫测。深远又深远，正是通向一切奥妙的门户</a:t>
            </a:r>
            <a:r>
              <a:rPr lang="en-US" sz="1500" b="0" i="0" u="none" strike="noStrike" dirty="0">
                <a:solidFill>
                  <a:srgbClr val="3C3C3C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第二章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2EBE1">
              <a:alpha val="6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23645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332620"/>
                </a:solidFill>
                <a:latin typeface="Kaiti SC"/>
                <a:ea typeface="Kaiti SC"/>
                <a:cs typeface="Kaiti SC"/>
                <a:sym typeface="Kaiti SC"/>
              </a:rPr>
              <a:t>天下皆知美之为美，斯恶已；皆知善之为善，斯不善已。故有无相生，难易相成，长短相较，高下相倾，音声相和，前后相随。是以圣人处无为之事，行不言之教。万物作焉而不辞，生而不有，为而不恃，功成而弗居。夫唯弗居，是以不去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2EBE1">
              <a:alpha val="6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5400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32620"/>
                </a:solidFill>
                <a:latin typeface="Songti SC"/>
                <a:ea typeface="Songti SC"/>
                <a:cs typeface="Songti SC"/>
                <a:sym typeface="Songti SC"/>
              </a:rPr>
              <a:t>天下人都知道美之所以为美，那是因为有丑的存在；都知道善之所以为善，那是因为有恶的存在。所以，有和无相互依存，难和易相互形成，长和短相互比较，高和下相互依存，音和声相互应和，前和后相互跟随。因此，圣人用“无为”的方式处事，用“不言”的方式教导。万物自然生长而不干预，生养万物而不据为己有，有所作为而不恃功自傲，成就功业而不居功。正因为不居功，所以功绩才不会失去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82000" y="6032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4B3D">
                    <a:alpha val="70196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道德经 · 选读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第三章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2EBE1">
              <a:alpha val="60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22444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  <a:t>不尚贤，使民不争；不贵难得之货，使民不为盗；不见可欲，使民心不乱。是以圣人之治，虚其心，实其腹，弱其志，强其骨。常使民无知无欲。使夫智者不敢为也。为无为，则无不治。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2EBE1">
              <a:alpha val="60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5400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  <a:t>不推崇贤能的人，使百姓不竞争；不珍视稀有的物品，使百姓不偷盗；不展示能引起欲望的东西，使百姓内心不混乱。因此，圣人治理天下，要净化百姓的心灵，满足他们的温饱，削弱他们的竞争意识，强健他们的体魄。永远使百姓没有心机、没有过多欲望。使那些聪明的人也不敢妄为。用“无为”的方式去治理，就没有治理不好的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4B3D">
                    <a:alpha val="70196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顺应自然，无为而治，返璞归真 ——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第四章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018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332924"/>
                </a:solidFill>
                <a:latin typeface="Kaiti SC"/>
                <a:ea typeface="Kaiti SC"/>
                <a:cs typeface="Kaiti SC"/>
                <a:sym typeface="Kaiti SC"/>
              </a:rPr>
              <a:t>道冲，而用之或不盈。渊兮，似万物之宗。挫其锐，解其纷，和其光，同其尘。湛兮，似或存。吾不知谁之子，象帝之先</a:t>
            </a:r>
            <a:r>
              <a:rPr lang="en-US" sz="1600" b="0" i="0" u="none" strike="noStrike" dirty="0">
                <a:solidFill>
                  <a:srgbClr val="332924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350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604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2794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4B372D"/>
                </a:solidFill>
                <a:latin typeface="Songti SC"/>
                <a:ea typeface="Songti SC"/>
                <a:cs typeface="Songti SC"/>
                <a:sym typeface="Songti SC"/>
              </a:rPr>
              <a:t>道是空虚无形的，但它的作用却无穷无尽。它是那样深邃，好像是万物的本源。它能消磨锐气，化解纷争，调和光芒，混同尘埃。它是那样幽隐，似无实有。我不知道它是从哪里来的，似乎在天帝之前就已经存在了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第五章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222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921000"/>
            <a:ext cx="4699000" cy="21312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 err="1">
                <a:solidFill>
                  <a:srgbClr val="332621"/>
                </a:solidFill>
                <a:latin typeface="Kaiti SC"/>
                <a:ea typeface="Kaiti SC"/>
                <a:cs typeface="Kaiti SC"/>
                <a:sym typeface="Kaiti SC"/>
              </a:rPr>
              <a:t>天地不仁，以万物为刍狗；圣人不仁，以百姓为刍狗。天地之间，其犹橐龠乎？虚而不屈，动而愈出。多言数穷，不如守中</a:t>
            </a:r>
            <a:r>
              <a:rPr lang="en-US" sz="1600" b="0" i="0" u="none" strike="noStrike" dirty="0">
                <a:solidFill>
                  <a:srgbClr val="332621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905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222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921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4322D"/>
                </a:solidFill>
                <a:latin typeface="Kaiti SC"/>
                <a:ea typeface="Kaiti SC"/>
                <a:cs typeface="Kaiti SC"/>
                <a:sym typeface="Kaiti SC"/>
              </a:rPr>
              <a:t>天地无所谓仁慈，把万物当作祭祀用的草狗，任其自然生灭；圣人也无所谓偏爱，将百姓同等看待。天地之间，就像一个大风箱，看似空虚却不会枯竭，越鼓动风就越多。政令繁多反而会陷入困境，不如保持内心的虚静与中正，顺应事物的自然规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4B3D">
                    <a:alpha val="6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道法自然 · 守中致和 ——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第六章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800" b="0" i="0" u="none" strike="noStrike">
                <a:solidFill>
                  <a:srgbClr val="3D2E28"/>
                </a:solidFill>
                <a:latin typeface="Kaiti SC"/>
                <a:ea typeface="Kaiti SC"/>
                <a:cs typeface="Kaiti SC"/>
                <a:sym typeface="Kaiti SC"/>
              </a:rPr>
              <a:t>谷神不死，是谓玄牝。玄牝之门，是谓天地根。绵绵若存，用之不勤。</a:t>
            </a:r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3676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937000"/>
            <a:ext cx="965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  <a:p>
            <a:pPr marL="0" indent="0" algn="just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523F37"/>
                </a:solidFill>
                <a:latin typeface="Kaiti SC"/>
                <a:ea typeface="Kaiti SC"/>
                <a:cs typeface="Kaiti SC"/>
                <a:sym typeface="Kaiti SC"/>
              </a:rPr>
              <a:t>虚空的神妙是永恒存在的，这就是深奥的母性。这深奥母性的门户，就是天地的根源。它连绵不绝地存在着，作用无穷无尽，如同生命之源般生生不息，滋养万物而永不枯竭。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10668000" y="5461000"/>
            <a:ext cx="812800" cy="812800"/>
          </a:xfrm>
          <a:prstGeom prst="roundRect">
            <a:avLst>
              <a:gd name="adj" fmla="val 0"/>
            </a:avLst>
          </a:prstGeom>
          <a:solidFill>
            <a:srgbClr val="A8383B">
              <a:alpha val="10000"/>
            </a:srgbClr>
          </a:solidFill>
          <a:ln w="25400" cap="flat" cmpd="sng">
            <a:solidFill>
              <a:srgbClr val="A8383B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668000" y="5461000"/>
            <a:ext cx="81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defRPr/>
            </a:pPr>
            <a:r>
              <a:rPr lang="en-US" sz="1600" b="0" i="0" u="none" strike="noStrike">
                <a:solidFill>
                  <a:srgbClr val="A8383B"/>
                </a:solidFill>
                <a:latin typeface="Kaiti SC"/>
                <a:ea typeface="Kaiti SC"/>
                <a:cs typeface="Kaiti SC"/>
                <a:sym typeface="Kaiti SC"/>
              </a:rPr>
              <a:t>道法</a:t>
            </a:r>
            <a:br>
              <a:rPr lang="en-US" sz="1600" b="0" i="0" u="none" strike="noStrike">
                <a:solidFill>
                  <a:srgbClr val="A8383B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600" b="0" i="0" u="none" strike="noStrike">
                <a:solidFill>
                  <a:srgbClr val="A8383B"/>
                </a:solidFill>
                <a:latin typeface="Kaiti SC"/>
                <a:ea typeface="Kaiti SC"/>
                <a:cs typeface="Kaiti SC"/>
                <a:sym typeface="Kaiti SC"/>
              </a:rPr>
              <a:t>自然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第七章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FFFDF5">
              <a:alpha val="5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762500" cy="17803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332621"/>
                </a:solidFill>
                <a:latin typeface="Kaiti SC"/>
                <a:ea typeface="Kaiti SC"/>
                <a:cs typeface="Kaiti SC"/>
                <a:sym typeface="Kaiti SC"/>
              </a:rPr>
              <a:t>天长地久。天地所以能长且久者，以其不自生，故能长生。是以圣人后其身而身先，外其身而身存。非以其无私邪？故能成其私</a:t>
            </a:r>
            <a:r>
              <a:rPr lang="en-US" sz="1600" b="0" i="0" u="none" strike="noStrike" dirty="0">
                <a:solidFill>
                  <a:srgbClr val="332621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159500" y="1651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FFFDF5">
              <a:alpha val="5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8415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413000"/>
            <a:ext cx="47625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332621"/>
                </a:solidFill>
                <a:latin typeface="Kaiti SC"/>
                <a:ea typeface="Kaiti SC"/>
                <a:cs typeface="Kaiti SC"/>
                <a:sym typeface="Kaiti SC"/>
              </a:rPr>
              <a:t>天地长久存在。天地之所以能长久，是因为它们不为自己而生，所以能够长生。因此，圣人把自己放在后面，反而能得到众人的拥戴；把自己置之度外，反而能保全自身。这不正是因为他无私吗？所以反而能成就自己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8C4B3D">
                    <a:alpha val="85098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“ 圣人之道，利万物而不争，无私故能成其私 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第八章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5382" r="5382"/>
          <a:stretch>
            <a:fillRect/>
          </a:stretch>
        </p:blipFill>
        <p:spPr>
          <a:xfrm>
            <a:off x="762000" y="1778000"/>
            <a:ext cx="4064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solidFill>
              <a:srgbClr val="8C4B3D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8C4B3D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5A3228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“</a:t>
            </a:r>
            <a:r>
              <a:rPr lang="en-US" sz="1600" b="0" i="0" u="none" strike="noStrike" dirty="0" err="1">
                <a:solidFill>
                  <a:srgbClr val="5A3228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水为至柔，却能穿石；水善利万物，而不争锋芒</a:t>
            </a:r>
            <a:r>
              <a:rPr lang="en-US" sz="1600" b="0" i="0" u="none" strike="noStrike" dirty="0">
                <a:solidFill>
                  <a:srgbClr val="5A3228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br>
              <a:rPr lang="en-US" sz="1600" b="0" i="0" u="none" strike="noStrike" dirty="0">
                <a:solidFill>
                  <a:srgbClr val="5A3228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600" b="0" i="0" u="none" strike="noStrike" dirty="0" err="1">
                <a:solidFill>
                  <a:srgbClr val="5A3228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此乃处世之至高境界，亦是自然之道的体现</a:t>
            </a:r>
            <a:r>
              <a:rPr lang="en-US" sz="1600" b="0" i="0" u="none" strike="noStrike" dirty="0">
                <a:solidFill>
                  <a:srgbClr val="5A3228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。”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207000" y="1778000"/>
            <a:ext cx="635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207000" y="2286000"/>
            <a:ext cx="635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3C281E"/>
                </a:solidFill>
                <a:latin typeface="Songti SC"/>
                <a:ea typeface="Songti SC"/>
                <a:cs typeface="Songti SC"/>
                <a:sym typeface="Songti SC"/>
              </a:rPr>
              <a:t>上善若水。水善利万物而不争，处众人之所恶，故几于道</a:t>
            </a:r>
            <a:r>
              <a:rPr lang="en-US" sz="1500" b="0" i="0" u="none" strike="noStrike" dirty="0">
                <a:solidFill>
                  <a:srgbClr val="3C281E"/>
                </a:solidFill>
                <a:latin typeface="Songti SC"/>
                <a:ea typeface="Songti SC"/>
                <a:cs typeface="Songti SC"/>
                <a:sym typeface="Songti SC"/>
              </a:rPr>
              <a:t>。</a:t>
            </a:r>
          </a:p>
          <a:p>
            <a:pPr marL="0" indent="0" algn="just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3C281E"/>
                </a:solidFill>
                <a:latin typeface="Songti SC"/>
                <a:ea typeface="Songti SC"/>
                <a:cs typeface="Songti SC"/>
                <a:sym typeface="Songti SC"/>
              </a:rPr>
              <a:t>居善地，心善渊，与善仁，言善信，政善治，事善能，动善时</a:t>
            </a:r>
            <a:r>
              <a:rPr lang="en-US" sz="1500" b="0" i="0" u="none" strike="noStrike" dirty="0">
                <a:solidFill>
                  <a:srgbClr val="3C281E"/>
                </a:solidFill>
                <a:latin typeface="Songti SC"/>
                <a:ea typeface="Songti SC"/>
                <a:cs typeface="Songti SC"/>
                <a:sym typeface="Songti SC"/>
              </a:rPr>
              <a:t>。</a:t>
            </a:r>
          </a:p>
          <a:p>
            <a:pPr marL="0" indent="0" algn="just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3C281E"/>
                </a:solidFill>
                <a:latin typeface="Songti SC"/>
                <a:ea typeface="Songti SC"/>
                <a:cs typeface="Songti SC"/>
                <a:sym typeface="Songti SC"/>
              </a:rPr>
              <a:t>夫唯不争，故无尤</a:t>
            </a:r>
            <a:r>
              <a:rPr lang="en-US" sz="1500" b="0" i="0" u="none" strike="noStrike" dirty="0">
                <a:solidFill>
                  <a:srgbClr val="3C281E"/>
                </a:solidFill>
                <a:latin typeface="Songti SC"/>
                <a:ea typeface="Songti SC"/>
                <a:cs typeface="Songti SC"/>
                <a:sym typeface="Songti SC"/>
              </a:rPr>
              <a:t>。</a:t>
            </a:r>
            <a:endParaRPr lang="en-US" sz="1100" dirty="0"/>
          </a:p>
        </p:txBody>
      </p:sp>
      <p:cxnSp>
        <p:nvCxnSpPr>
          <p:cNvPr id="8" name="Connector 8"/>
          <p:cNvCxnSpPr/>
          <p:nvPr/>
        </p:nvCxnSpPr>
        <p:spPr>
          <a:xfrm rot="-6875">
            <a:off x="5207006" y="3930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207000" y="4191000"/>
            <a:ext cx="635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207000" y="4699000"/>
            <a:ext cx="635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3C32">
                    <a:alpha val="80000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  <a:t>最高境界的善就像水一样，它滋润万物却不与之相争，甘于处在众人厌恶的低洼之地，因此最接近“道”的本质。立身要安于适宜的位置，心胸要保持深沉宁静，待人要真诚仁爱，说话要恪守信用，为政要善于治理，做事要发挥所长，行动要把握时机。正因为懂得不与人相争，所以才不会招致过失与怨咎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第九章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000" b="1" i="0" u="none" strike="noStrike" dirty="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</a:t>
            </a:r>
            <a:r>
              <a:rPr lang="en-US" sz="2000" b="1" i="0" u="none" strike="noStrike" dirty="0" err="1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原文</a:t>
            </a:r>
            <a:r>
              <a:rPr lang="en-US" sz="2000" b="1" i="0" u="none" strike="noStrike" dirty="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】</a:t>
            </a:r>
            <a:endParaRPr lang="en-US" sz="1100" dirty="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 dirty="0" err="1">
                <a:solidFill>
                  <a:srgbClr val="3C3C3C"/>
                </a:solidFill>
                <a:latin typeface="Kaiti SC"/>
                <a:ea typeface="Kaiti SC"/>
                <a:cs typeface="Kaiti SC"/>
                <a:sym typeface="Kaiti SC"/>
              </a:rPr>
              <a:t>持而盈之，不如其已；揣而锐之，不可长保</a:t>
            </a:r>
            <a:r>
              <a:rPr lang="en-US" sz="1600" b="0" i="0" u="none" strike="noStrike" dirty="0">
                <a:solidFill>
                  <a:srgbClr val="3C3C3C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 dirty="0" err="1">
                <a:solidFill>
                  <a:srgbClr val="3C3C3C"/>
                </a:solidFill>
                <a:latin typeface="Kaiti SC"/>
                <a:ea typeface="Kaiti SC"/>
                <a:cs typeface="Kaiti SC"/>
                <a:sym typeface="Kaiti SC"/>
              </a:rPr>
              <a:t>金玉满堂，莫之能守</a:t>
            </a:r>
            <a:r>
              <a:rPr lang="en-US" sz="1600" b="0" i="0" u="none" strike="noStrike" dirty="0">
                <a:solidFill>
                  <a:srgbClr val="3C3C3C"/>
                </a:solidFill>
                <a:latin typeface="Kaiti SC"/>
                <a:ea typeface="Kaiti SC"/>
                <a:cs typeface="Kaiti SC"/>
                <a:sym typeface="Kaiti SC"/>
              </a:rPr>
              <a:t>；</a:t>
            </a:r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 dirty="0" err="1">
                <a:solidFill>
                  <a:srgbClr val="3C3C3C"/>
                </a:solidFill>
                <a:latin typeface="Kaiti SC"/>
                <a:ea typeface="Kaiti SC"/>
                <a:cs typeface="Kaiti SC"/>
                <a:sym typeface="Kaiti SC"/>
              </a:rPr>
              <a:t>富贵而骄，自遗其咎。功遂身退，天之道也</a:t>
            </a:r>
            <a:r>
              <a:rPr lang="en-US" sz="1600" b="0" i="0" u="none" strike="noStrike" dirty="0">
                <a:solidFill>
                  <a:srgbClr val="3C3C3C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393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4191000"/>
            <a:ext cx="1066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000" b="1" i="0" u="none" strike="noStrike" dirty="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</a:t>
            </a:r>
            <a:r>
              <a:rPr lang="en-US" sz="2000" b="1" i="0" u="none" strike="noStrike" dirty="0" err="1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韩鹏杰极简白话</a:t>
            </a:r>
            <a:r>
              <a:rPr lang="en-US" sz="2000" b="1" i="0" u="none" strike="noStrike" dirty="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】</a:t>
            </a:r>
            <a:endParaRPr lang="en-US" sz="1100" dirty="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 dirty="0">
                <a:solidFill>
                  <a:srgbClr val="3C3C3C"/>
                </a:solidFill>
                <a:latin typeface="Kaiti SC"/>
                <a:ea typeface="Kaiti SC"/>
                <a:cs typeface="Kaiti SC"/>
                <a:sym typeface="Kaiti SC"/>
              </a:rPr>
              <a:t>手里拿得满满的，不如适可而止；把东西磨得太锋利，就难以长久保持。金玉堆满屋子，没有谁能守得住；富贵了就骄傲，是自己给自己留下祸患。功成名就后及时退隐，这是自然的规律。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10820400" y="5740400"/>
            <a:ext cx="711200" cy="711200"/>
          </a:xfrm>
          <a:prstGeom prst="roundRect">
            <a:avLst>
              <a:gd name="adj" fmla="val 0"/>
            </a:avLst>
          </a:prstGeom>
          <a:solidFill>
            <a:srgbClr val="8C4B3D">
              <a:alpha val="70000"/>
            </a:srgbClr>
          </a:solidFill>
          <a:ln w="25400" cap="flat" cmpd="sng">
            <a:solidFill>
              <a:srgbClr val="8C4B3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820400" y="5740400"/>
            <a:ext cx="711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Kaiti SC"/>
                <a:ea typeface="Kaiti SC"/>
                <a:cs typeface="Kaiti SC"/>
                <a:sym typeface="Kaiti SC"/>
              </a:rPr>
              <a:t>道德经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第十章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699" r="699"/>
          <a:stretch>
            <a:fillRect/>
          </a:stretch>
        </p:blipFill>
        <p:spPr>
          <a:xfrm>
            <a:off x="762000" y="1778000"/>
            <a:ext cx="4318000" cy="2921000"/>
          </a:xfrm>
          <a:prstGeom prst="rect">
            <a:avLst/>
          </a:prstGeom>
          <a:noFill/>
          <a:ln w="25400" cap="flat" cmpd="sng">
            <a:solidFill>
              <a:srgbClr val="8C4B3D">
                <a:alpha val="4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3C2823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953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1" u="none" strike="noStrike">
                <a:solidFill>
                  <a:srgbClr val="8C4B3D">
                    <a:alpha val="85098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“含德之厚，比于赤子。”</a:t>
            </a:r>
            <a:br>
              <a:rPr lang="en-US" sz="1600" b="0" i="1" u="none" strike="noStrike">
                <a:solidFill>
                  <a:srgbClr val="8C4B3D">
                    <a:alpha val="85098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600" b="0" i="1" u="none" strike="noStrike">
                <a:solidFill>
                  <a:srgbClr val="8C4B3D">
                    <a:alpha val="85098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守柔处弱，方得长久。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778000"/>
            <a:ext cx="6096000" cy="1968500"/>
          </a:xfrm>
          <a:prstGeom prst="roundRect">
            <a:avLst>
              <a:gd name="adj" fmla="val 0"/>
            </a:avLst>
          </a:prstGeom>
          <a:solidFill>
            <a:srgbClr val="8C4B3D">
              <a:alpha val="6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651500" y="19304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51500" y="2349500"/>
            <a:ext cx="5715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C2823"/>
                </a:solidFill>
                <a:latin typeface="Kaiti SC"/>
                <a:ea typeface="Kaiti SC"/>
                <a:cs typeface="Kaiti SC"/>
                <a:sym typeface="Kaiti SC"/>
              </a:rPr>
              <a:t>载营魄抱一，能无离乎？专气致柔，能如婴儿乎？涤除玄览，能无疵乎？爱民治国，能无为乎？天门开阖，能为雌乎？明白四达，能无知乎？生之畜之，生而不有，为而不恃，长而不宰，是谓玄德。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461000" y="4000500"/>
            <a:ext cx="6096000" cy="1968500"/>
          </a:xfrm>
          <a:prstGeom prst="roundRect">
            <a:avLst>
              <a:gd name="adj" fmla="val 0"/>
            </a:avLst>
          </a:prstGeom>
          <a:solidFill>
            <a:srgbClr val="8C4B3D">
              <a:alpha val="6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651500" y="41529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651500" y="4572000"/>
            <a:ext cx="5715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C2823"/>
                </a:solidFill>
                <a:latin typeface="Kaiti SC"/>
                <a:ea typeface="Kaiti SC"/>
                <a:cs typeface="Kaiti SC"/>
                <a:sym typeface="Kaiti SC"/>
              </a:rPr>
              <a:t>精神与形体合一而不分离，聚结精气达到柔和，能像婴儿般纯真吗？清除内心的杂念，能达到毫无瑕疵的境界吗？爱护百姓治理国家，能顺应自然、无为而治吗？感官与外界接触，能保持宁静守柔吗？通晓四方事理，能保持谦虚、不自以为有知吗？生养万物而不占有，有所作为而不恃功，滋养万物而不主宰，这就是最深奥的德行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第十一章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03500"/>
            <a:ext cx="4699000" cy="18484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3D2B1F"/>
                </a:solidFill>
                <a:latin typeface="Kaiti SC"/>
                <a:ea typeface="Kaiti SC"/>
                <a:cs typeface="Kaiti SC"/>
                <a:sym typeface="Kaiti SC"/>
              </a:rPr>
              <a:t>三十辐共一毂，当其无，有车之用。埏埴以为器，当其无，有器之用。凿户牖以为室，当其无，有室之用。故有之以为利，无之以为用</a:t>
            </a:r>
            <a:r>
              <a:rPr lang="en-US" sz="1600" b="0" i="0" u="none" strike="noStrike" dirty="0">
                <a:solidFill>
                  <a:srgbClr val="3D2B1F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035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B372D"/>
                </a:solidFill>
                <a:latin typeface="Songti SC"/>
                <a:ea typeface="Songti SC"/>
                <a:cs typeface="Songti SC"/>
                <a:sym typeface="Songti SC"/>
              </a:rPr>
              <a:t>三十根辐条汇集到一个车毂上，正是因为车毂中间是空的，才有了车的作用。揉和陶土做成器皿，正是因为器皿中间是空的，才有了器皿的作用。开凿门窗建造房屋，正是因为房屋中间是空的，才有了房屋的作用。所以，“有”带来了便利，“无”发挥了作用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52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8C4B3D">
                    <a:alpha val="85098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虚实相生，方为大用；有无相济，乃成万物 ——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第十二章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8EB">
              <a:alpha val="60000"/>
            </a:srgbClr>
          </a:solidFill>
          <a:ln w="12700" cap="flat" cmpd="sng">
            <a:solidFill>
              <a:srgbClr val="8C4B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175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 err="1">
                <a:solidFill>
                  <a:srgbClr val="3D261E"/>
                </a:solidFill>
                <a:latin typeface="Kaiti SC"/>
                <a:ea typeface="Kaiti SC"/>
                <a:cs typeface="Kaiti SC"/>
                <a:sym typeface="Kaiti SC"/>
              </a:rPr>
              <a:t>五色令人目盲；五音令人耳聋；五味令人口爽；驰骋畋猎，令人心发狂；难得之货，令人行妨。是以圣人为腹不为目，故去彼取此</a:t>
            </a:r>
            <a:r>
              <a:rPr lang="en-US" sz="1600" b="0" i="0" u="none" strike="noStrike" dirty="0">
                <a:solidFill>
                  <a:srgbClr val="3D26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8EB">
              <a:alpha val="60000"/>
            </a:srgbClr>
          </a:solidFill>
          <a:ln w="12700" cap="flat" cmpd="sng">
            <a:solidFill>
              <a:srgbClr val="8C4B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500" b="0" i="0" u="none" strike="noStrike">
                <a:solidFill>
                  <a:srgbClr val="4B342A"/>
                </a:solidFill>
                <a:latin typeface="Songti SC"/>
                <a:ea typeface="Songti SC"/>
                <a:cs typeface="Songti SC"/>
                <a:sym typeface="Songti SC"/>
              </a:rPr>
              <a:t>缤纷的色彩使人眼花缭乱；嘈杂的音乐使人听觉失灵；丰盛的食物使人味觉迟钝；纵情打猎使人内心疯狂；稀有的物品使人行为不端。因此，圣人只求温饱，不追求感官的享受，所以要舍弃那些外在的感官刺激，而选取内在的平静与充实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第十三章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5E6">
              <a:alpha val="55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26993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宠辱若惊，贵大患若身。何谓宠辱若惊？宠为下，得之若惊，失之若惊，是谓宠辱若惊。何谓贵大患若身？吾所以有大患者，为吾有身，及吾无身，吾有何患？故贵以身为天下，若可寄天下；爱以身为天下，若可托天下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5E6">
              <a:alpha val="55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68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67000"/>
            <a:ext cx="4699000" cy="311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受宠与受辱都感到心惊，把大的祸患看得像自身一样宝贵。什么叫宠辱若惊？得宠本是卑下之事，得到它时心惊，失去它时也心惊，这就是宠辱若惊。什么叫贵大患若身？我之所以有大的祸患，是因为我有这个身体；如果我没有这个身体，我还会有什么祸患呢？所以，只有把天下看得和自己的身体一样珍贵的人，才可以把天下托付给他；只有像爱惜自己身体一样爱惜天下的人，才可以把天下托付给他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第十四章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4889500" cy="26947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3D2E29"/>
                </a:solidFill>
                <a:latin typeface="Kaiti SC"/>
                <a:ea typeface="Kaiti SC"/>
                <a:cs typeface="Kaiti SC"/>
                <a:sym typeface="Kaiti SC"/>
              </a:rPr>
              <a:t>视之不见，名曰夷；听之不闻，名曰希；搏之不得，名曰微。此三者不可致诘，故混而为一。其上不皦，其下不昧。绳绳兮不可名，复归于无物。是谓无状之状，无物之象，是谓惚恍。迎之不见其首，随之不见其后。执古之道，以御今之有。能知古始，是谓道纪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1595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0" y="1841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413000"/>
            <a:ext cx="4889500" cy="311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D2E29"/>
                </a:solidFill>
                <a:latin typeface="Kaiti SC"/>
                <a:ea typeface="Kaiti SC"/>
                <a:cs typeface="Kaiti SC"/>
                <a:sym typeface="Kaiti SC"/>
              </a:rPr>
              <a:t>看它看不见，叫做“夷”；听它听不到，叫做“希”；摸它摸不着，叫做“微”。这三者无法探究清楚，所以它们是浑然一体的。它的上面不显得明亮，下面也不显得昏暗。它连绵不绝难以形容，最终回归到无物的状态。这叫做没有形状的形状，没有物体的形象，这叫做“惚恍”。迎着它看不见它的前头，跟着它看不见它的后头。把握着自古就存在的道，来驾驭现在的具体事物。能够了解宇宙的初始，这就叫做道的规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150600" y="5969000"/>
            <a:ext cx="533400" cy="533400"/>
          </a:xfrm>
          <a:prstGeom prst="roundRect">
            <a:avLst>
              <a:gd name="adj" fmla="val 0"/>
            </a:avLst>
          </a:prstGeom>
          <a:solidFill>
            <a:srgbClr val="A8383B">
              <a:alpha val="85000"/>
            </a:srgbClr>
          </a:solidFill>
          <a:ln cap="flat" cmpd="sng">
            <a:solidFill>
              <a:srgbClr val="8E2124">
                <a:alpha val="8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150600" y="5969000"/>
            <a:ext cx="5334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Kaiti SC"/>
                <a:ea typeface="Kaiti SC"/>
                <a:cs typeface="Kaiti SC"/>
                <a:sym typeface="Kaiti SC"/>
              </a:rPr>
              <a:t>道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第十五章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C4B3D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5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古之善为道者，微妙玄通，深不可识。夫唯不可识，故强为之容：豫兮若冬涉川；犹兮若畏四邻；俨兮其若客；涣兮其若冰之将释；敦兮其若朴；旷兮其若谷；混兮其若浊；孰能浊以静之徐清？孰能安以动之徐生？保此道者，不欲盈。夫唯不盈，故能蔽而新成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413000"/>
            <a:ext cx="5207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500" b="0" i="0" u="none" strike="noStrike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古代善于行道的人，见解微妙而通达，深刻得难以理解。正因为难以理解，所以勉强来形容他：他小心谨慎啊，好像冬天涉水过河；他警觉戒备啊，好像提防着四周的敌人；他恭敬严肃啊，好像在做客；他融和可亲啊，好像冰将要融化；他敦厚朴实啊，好像未经雕琢的木头；他心胸开阔啊，好像空旷的山谷；他浑厚包容啊，好像浑浊的水。谁能让浑浊的水静止下来慢慢澄清？谁能让安静的事物变动起来慢慢产生生机？保持这种道的人，不追求圆满。正因为不追求圆满，所以能够在陈旧中更新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6096000"/>
            <a:ext cx="508000" cy="50800"/>
          </a:xfrm>
          <a:prstGeom prst="roundRect">
            <a:avLst>
              <a:gd name="adj" fmla="val 0"/>
            </a:avLst>
          </a:prstGeom>
          <a:solidFill>
            <a:srgbClr val="8C4B3D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397000" y="6096000"/>
            <a:ext cx="190500" cy="50800"/>
          </a:xfrm>
          <a:prstGeom prst="roundRect">
            <a:avLst>
              <a:gd name="adj" fmla="val 0"/>
            </a:avLst>
          </a:prstGeom>
          <a:solidFill>
            <a:srgbClr val="8C4B3D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第十六章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8C4B3D">
              <a:alpha val="6000"/>
            </a:srgbClr>
          </a:solidFill>
          <a:ln w="12700" cap="flat" cmpd="sng">
            <a:solidFill>
              <a:srgbClr val="8C4B3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699000" cy="239568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2D2D2D"/>
                </a:solidFill>
                <a:latin typeface="Kaiti SC"/>
                <a:ea typeface="Kaiti SC"/>
                <a:cs typeface="Kaiti SC"/>
                <a:sym typeface="Kaiti SC"/>
              </a:rPr>
              <a:t>致虚极，守静笃。万物并作，吾以观复。夫物芸芸，各复归其根。归根曰静，静曰复命。复命曰常，知常曰明。不知常，妄作凶。知常容，容乃公，公乃全，全乃天，天乃道，道乃久，没身不殆。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8415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8C4B3D">
              <a:alpha val="6000"/>
            </a:srgbClr>
          </a:solidFill>
          <a:ln w="12700" cap="flat" cmpd="sng">
            <a:solidFill>
              <a:srgbClr val="8C4B3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305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C3C3C"/>
                </a:solidFill>
                <a:latin typeface="Kaiti SC"/>
                <a:ea typeface="Kaiti SC"/>
                <a:cs typeface="Kaiti SC"/>
                <a:sym typeface="Kaiti SC"/>
              </a:rPr>
              <a:t>使心灵达到极度的空虚，坚守内心的宁静。万物一起生长，我从而观察它们的循环往复。万物纷繁复杂，最终都会回归到它们的根源。回归根源叫做静，静叫做复归本性。复归本性叫做常，认识到常叫做明。不认识常，轻举妄动就会有凶险。认识到常就能包容一切，包容一切就能公正无私，公正无私就能周全，周全就能符合自然，符合自然就能符合道，符合道就能长久，终身没有危险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第十七章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1659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3C1E14"/>
                </a:solidFill>
                <a:latin typeface="Kaiti SC"/>
                <a:ea typeface="Kaiti SC"/>
                <a:cs typeface="Kaiti SC"/>
                <a:sym typeface="Kaiti SC"/>
              </a:rPr>
              <a:t>太上，下知有之；其次，亲而誉之；其次，畏之；其次，侮之。信不足焉，有不信焉。悠兮其贵言。功成事遂，百姓皆谓</a:t>
            </a:r>
            <a:r>
              <a:rPr lang="en-US" sz="1600" b="0" i="0" u="none" strike="noStrike" dirty="0">
                <a:solidFill>
                  <a:srgbClr val="3C1E14"/>
                </a:solidFill>
                <a:latin typeface="Kaiti SC"/>
                <a:ea typeface="Kaiti SC"/>
                <a:cs typeface="Kaiti SC"/>
                <a:sym typeface="Kaiti SC"/>
              </a:rPr>
              <a:t>：“</a:t>
            </a:r>
            <a:r>
              <a:rPr lang="en-US" sz="1600" b="0" i="0" u="none" strike="noStrike" dirty="0" err="1">
                <a:solidFill>
                  <a:srgbClr val="3C1E14"/>
                </a:solidFill>
                <a:latin typeface="Kaiti SC"/>
                <a:ea typeface="Kaiti SC"/>
                <a:cs typeface="Kaiti SC"/>
                <a:sym typeface="Kaiti SC"/>
              </a:rPr>
              <a:t>我自然</a:t>
            </a:r>
            <a:r>
              <a:rPr lang="en-US" sz="1600" b="0" i="0" u="none" strike="noStrike" dirty="0">
                <a:solidFill>
                  <a:srgbClr val="3C1E14"/>
                </a:solidFill>
                <a:latin typeface="Kaiti SC"/>
                <a:ea typeface="Kaiti SC"/>
                <a:cs typeface="Kaiti SC"/>
                <a:sym typeface="Kaiti SC"/>
              </a:rPr>
              <a:t>”。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6281E"/>
                </a:solidFill>
                <a:latin typeface="Songti SC"/>
                <a:ea typeface="Songti SC"/>
                <a:cs typeface="Songti SC"/>
                <a:sym typeface="Songti SC"/>
              </a:rPr>
              <a:t>最高明的统治者，百姓仅知道他的存在；次一等的，百姓亲近他、赞美他；再次一等的，百姓畏惧他；最次的，百姓轻侮他。统治者的诚信不足，百姓就不会信任他。真正的治世者悠闲自在，不轻易发号施令。等到事业成功、百事顺遂，百姓都会由衷感叹：“这是我们自然而然做到的啊。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287000" y="6032500"/>
            <a:ext cx="1143000" cy="406400"/>
          </a:xfrm>
          <a:prstGeom prst="roundRect">
            <a:avLst>
              <a:gd name="adj" fmla="val 0"/>
            </a:avLst>
          </a:prstGeom>
          <a:solidFill>
            <a:srgbClr val="8C4B3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287000" y="6032500"/>
            <a:ext cx="114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DF8F0"/>
                </a:solidFill>
                <a:latin typeface="Kaiti SC"/>
                <a:ea typeface="Kaiti SC"/>
                <a:cs typeface="Kaiti SC"/>
                <a:sym typeface="Kaiti SC"/>
              </a:rPr>
              <a:t>无为而治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第十八章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4A3128"/>
                </a:solidFill>
                <a:latin typeface="Kaiti SC"/>
                <a:ea typeface="Kaiti SC"/>
                <a:cs typeface="Kaiti SC"/>
                <a:sym typeface="Kaiti SC"/>
              </a:rPr>
              <a:t>大道废，有仁义；智慧出，有大伪；六亲不和，有孝慈；国家昏乱，有忠臣。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7780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7000" y="19685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4A3128"/>
                </a:solidFill>
                <a:latin typeface="Kaiti SC"/>
                <a:ea typeface="Kaiti SC"/>
                <a:cs typeface="Kaiti SC"/>
                <a:sym typeface="Kaiti SC"/>
              </a:rPr>
              <a:t>大道被废弃了，才会提倡仁义；智慧出现了，才会产生严重的虚伪；家庭不和睦了，才会彰显孝慈；国家昏乱了，才会出现忠臣。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4445000"/>
            <a:ext cx="10668000" cy="1651000"/>
          </a:xfrm>
          <a:prstGeom prst="roundRect">
            <a:avLst>
              <a:gd name="adj" fmla="val 0"/>
            </a:avLst>
          </a:prstGeom>
          <a:solidFill>
            <a:srgbClr val="8C4B3D">
              <a:alpha val="5000"/>
            </a:srgbClr>
          </a:solidFill>
          <a:ln w="12700" cap="flat" cmpd="sng">
            <a:solidFill>
              <a:srgbClr val="8C4B3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46355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【章旨悟读】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>
                <a:solidFill>
                  <a:srgbClr val="5A3A2F"/>
                </a:solidFill>
                <a:latin typeface="Kaiti SC"/>
                <a:ea typeface="Kaiti SC"/>
                <a:cs typeface="Kaiti SC"/>
                <a:sym typeface="Kaiti SC"/>
              </a:rPr>
              <a:t>此章揭示了深刻的辩证关系：当社会极力标榜某种道德时，往往意味着它已成为稀缺品。真正的大道盛行之时，万物自然和谐，无需刻意称颂仁义与孝慈。这种“反者道之动”的视角，提醒我们透过表象洞察事物的本质与根源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第十九章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2675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3D261D"/>
                </a:solidFill>
                <a:latin typeface="Kaiti SC"/>
                <a:ea typeface="Kaiti SC"/>
                <a:cs typeface="Kaiti SC"/>
                <a:sym typeface="Kaiti SC"/>
              </a:rPr>
              <a:t>绝圣弃智，民利百倍；绝仁弃义，民复孝慈；绝巧弃利，盗贼无有。此三者以为文，不足。故令有所属：见素抱朴，少私寡欲</a:t>
            </a:r>
            <a:r>
              <a:rPr lang="en-US" sz="1600" b="0" i="0" u="none" strike="noStrike" dirty="0">
                <a:solidFill>
                  <a:srgbClr val="3D261D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3D261D"/>
                </a:solidFill>
                <a:latin typeface="Kaiti SC"/>
                <a:ea typeface="Kaiti SC"/>
                <a:cs typeface="Kaiti SC"/>
                <a:sym typeface="Kaiti SC"/>
              </a:rPr>
              <a:t>抛弃聪明和智慧，百姓会得到百倍的好处；抛弃仁和义，百姓会恢复孝慈的本性；抛弃技巧和利益，盗贼就不会存在。这三者作为外在的文饰，是不足以治理天下的。所以要让人们有所归属：保持朴素的本性，减少私心，降低欲望，让心灵回归最本真的状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176000" y="5842000"/>
            <a:ext cx="508000" cy="508000"/>
          </a:xfrm>
          <a:prstGeom prst="roundRect">
            <a:avLst>
              <a:gd name="adj" fmla="val 0"/>
            </a:avLst>
          </a:prstGeom>
          <a:solidFill>
            <a:srgbClr val="8C4B3D">
              <a:alpha val="15000"/>
            </a:srgbClr>
          </a:solidFill>
          <a:ln w="12700" cap="flat" cmpd="sng">
            <a:solidFill>
              <a:srgbClr val="8C4B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176000" y="5842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4B3D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道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第二十章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333333"/>
                </a:solidFill>
                <a:latin typeface="Kaiti SC"/>
                <a:ea typeface="Kaiti SC"/>
                <a:cs typeface="Kaiti SC"/>
                <a:sym typeface="Kaiti SC"/>
              </a:rPr>
              <a:t>绝学无忧。唯之与阿，相去几何？善之与恶，相去若何？人之所畏，不可不畏。荒兮，其未央哉！众人熙熙，如享太牢，如春登台。我独泊兮，其未兆；沌沌兮，如婴儿之未孩；傫傫兮，若无所归。众人皆有余，而我独若遗。我愚人之心也哉！俗人昭昭，我独昏昏。俗人察察，我独闷闷。澹兮其若海，飂兮若无止。众人皆有以，而我独顽且鄙。我独异于人，而贵食母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6223000" y="1651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2286000"/>
            <a:ext cx="5207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Kaiti SC"/>
                <a:ea typeface="Kaiti SC"/>
                <a:cs typeface="Kaiti SC"/>
                <a:sym typeface="Kaiti SC"/>
              </a:rPr>
              <a:t>抛弃学问便无忧愁。应诺与呵斥，相差几何？善良与邪恶，相距多远？世人所畏惧的，我亦不可不畏。世间大道，广阔无垠！众人皆兴高采烈，如享盛宴、如春日出游。唯独我淡泊宁静，无迹可寻；浑沌质朴，如婴孩般纯真；散漫闲散，似无家可归。众人富足有余，我却若有所失，似有一颗愚人之心。俗人清醒精明，我却昏沉豁达；俗人苛察计较，我却浑厚宽容。心境如大海般澹定，如长风般自在不息。众人皆有所作为，我却愚钝质朴。我与众人不同，只因我珍视那滋养万物的本源之道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06000" y="5969000"/>
            <a:ext cx="1524000" cy="406400"/>
          </a:xfrm>
          <a:prstGeom prst="roundRect">
            <a:avLst>
              <a:gd name="adj" fmla="val 0"/>
            </a:avLst>
          </a:prstGeom>
          <a:solidFill>
            <a:srgbClr val="8C4B3D">
              <a:alpha val="10000"/>
            </a:srgbClr>
          </a:solidFill>
          <a:ln w="12700" cap="flat" cmpd="sng">
            <a:solidFill>
              <a:srgbClr val="8C4B3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906000" y="5969000"/>
            <a:ext cx="152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道德经选读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第二十一章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699000" cy="23772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  <a:t>孔德之容，惟道是从。道之为物，惟恍惟惚。惚兮恍兮，其中有象；恍兮惚兮，其中有物。窈兮冥兮，其中有精；其精甚真，其中有信。自今及古，其名不去，以阅众甫。吾何以知众甫之状哉？以此。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305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>
                <a:solidFill>
                  <a:srgbClr val="46372D"/>
                </a:solidFill>
                <a:latin typeface="Kaiti SC"/>
                <a:ea typeface="Kaiti SC"/>
                <a:cs typeface="Kaiti SC"/>
                <a:sym typeface="Kaiti SC"/>
              </a:rPr>
              <a:t>大德的形态，只跟随着道。道这个东西，是恍恍惚惚的。恍惚之中，有它的形象；恍惚之中，有它的实体。深远幽暗之中，有它的精气；这精气非常真实，其中有它的信验。从现在追溯到古代，它的名字永远不会消失，用来观察万物的开端。我怎么知道万物开端的状况呢？就是凭借这个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第二十二章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2ECE1">
              <a:alpha val="70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730500"/>
            <a:ext cx="4699000" cy="2425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443026"/>
                </a:solidFill>
                <a:latin typeface="Kaiti SC"/>
                <a:ea typeface="Kaiti SC"/>
                <a:cs typeface="Kaiti SC"/>
                <a:sym typeface="Kaiti SC"/>
              </a:rPr>
              <a:t>曲则全，枉则直，洼则盈，敝则新，少则得，多则惑。是以圣人抱一为天下式。不自见，故明；不自是，故彰；不自伐，故有功；不自矜，故长。夫唯不争，故天下莫能与之争。古之所谓“曲则全”者，岂虚言哉！诚全而归之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2ECE1">
              <a:alpha val="70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9050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291">
            <a:off x="6477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477000" y="27305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443026"/>
                </a:solidFill>
                <a:latin typeface="Kaiti SC"/>
                <a:ea typeface="Kaiti SC"/>
                <a:cs typeface="Kaiti SC"/>
                <a:sym typeface="Kaiti SC"/>
              </a:rPr>
              <a:t>委曲反而能保全，弯曲反而能伸直，低洼反而能充盈，陈旧反而能更新，少取反而能多得，贪多反而会迷惑。因此，圣人坚守“道”作为天下的准则。不自我表现，所以能明辨是非；不自以为是，所以能声名彰显；不自我夸耀，所以能建立功业；不自我骄傲，所以能长久。正因为不与人相争，所以天下没有人能和他相争。古人所说的“曲则全”，绝非空话，而是实实在在能保全自身并实现目标的智慧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第二十三章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2ECE1">
              <a:alpha val="50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23668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41666"/>
              </a:lnSpc>
              <a:defRPr/>
            </a:pPr>
            <a:r>
              <a:rPr lang="en-US" sz="1500" b="0" i="0" u="none" strike="noStrike" dirty="0">
                <a:solidFill>
                  <a:srgbClr val="332924"/>
                </a:solidFill>
                <a:latin typeface="Kaiti SC"/>
                <a:ea typeface="Kaiti SC"/>
                <a:cs typeface="Kaiti SC"/>
                <a:sym typeface="Kaiti SC"/>
              </a:rPr>
              <a:t>希言自然。故飘风不终朝，骤雨不终日。孰为此者？天地。天地尚不能久，而况于人乎？故从事于道者，同于道；德者，同于德；失者，同于失。同于道者，道亦乐得之；同于德者，德亦乐得之；同于失者，失亦乐得之。信不足焉，有不信焉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2ECE1">
              <a:alpha val="50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670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41666"/>
              </a:lnSpc>
              <a:defRPr/>
            </a:pPr>
            <a:r>
              <a:rPr lang="en-US" sz="1500" b="0" i="0" u="none" strike="noStrike">
                <a:solidFill>
                  <a:srgbClr val="332924"/>
                </a:solidFill>
                <a:latin typeface="Kaiti SC"/>
                <a:ea typeface="Kaiti SC"/>
                <a:cs typeface="Kaiti SC"/>
                <a:sym typeface="Kaiti SC"/>
              </a:rPr>
              <a:t>少说话是合乎自然的。所以狂风刮不了一个早晨，暴雨下不了一整天。这是谁造成的呢？是天地。天地的力量尚且不能持久，更何况是人呢？所以，追求道的人，行为就与道相合；有德的人，行为就与德相合；失道失德的人，行为就与失道失德相合。与道相合的人，道也乐于接纳他；与德相合的人，德也乐于接纳他；与失道失德相合的人，失道失德也乐于接纳他。一个人如果诚信不足，别人自然也就不会信任他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176000" y="5969000"/>
            <a:ext cx="558800" cy="558800"/>
          </a:xfrm>
          <a:prstGeom prst="roundRect">
            <a:avLst>
              <a:gd name="adj" fmla="val 0"/>
            </a:avLst>
          </a:prstGeom>
          <a:solidFill>
            <a:srgbClr val="8C4B3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176000" y="5969000"/>
            <a:ext cx="558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Kaiti SC"/>
                <a:ea typeface="Kaiti SC"/>
                <a:cs typeface="Kaiti SC"/>
                <a:sym typeface="Kaiti SC"/>
              </a:rPr>
              <a:t>道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第二十四章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8C4B3D">
              <a:alpha val="6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32923"/>
                </a:solidFill>
                <a:latin typeface="Songti SC"/>
                <a:ea typeface="Songti SC"/>
                <a:cs typeface="Songti SC"/>
                <a:sym typeface="Songti SC"/>
              </a:rPr>
              <a:t>企者不立，跨者不行；自见者不明，自是者不彰，自伐者无功，自矜者不长。其在道也，曰：余食赘形。物或恶之，故有道者不处。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064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8C4B3D">
              <a:alpha val="6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4254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6990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32923"/>
                </a:solidFill>
                <a:latin typeface="Songti SC"/>
                <a:ea typeface="Songti SC"/>
                <a:cs typeface="Songti SC"/>
                <a:sym typeface="Songti SC"/>
              </a:rPr>
              <a:t>踮起脚尖难站稳，大步跨越行不远；自我表现者心智不明，自以为是者声名不显，自我夸耀者难建其功，自高自大者难以长久。这些行为在道的层面，如同残羹与赘瘤，连万物都心生厌弃，故有道之人绝不为之。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858000" y="2159000"/>
            <a:ext cx="3556000" cy="3556000"/>
          </a:xfrm>
          <a:prstGeom prst="ellipse">
            <a:avLst/>
          </a:prstGeom>
          <a:solidFill>
            <a:srgbClr val="8C4B3D">
              <a:alpha val="5000"/>
            </a:srgbClr>
          </a:solidFill>
          <a:ln w="254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985000" y="2667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8C4B3D">
                    <a:alpha val="2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道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5842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C4B3D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顺势自然，去奢去泰 ——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第二十五章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23737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3C2823"/>
                </a:solidFill>
                <a:latin typeface="Kaiti SC"/>
                <a:ea typeface="Kaiti SC"/>
                <a:cs typeface="Kaiti SC"/>
                <a:sym typeface="Kaiti SC"/>
              </a:rPr>
              <a:t>有物混成，先天地生。寂兮寥兮，独立而不改，周行而不殆，可以为天地母。吾不知其名，字之曰道，强为之名曰大。大曰逝，逝曰远，远曰反。故道大，天大，地大，人亦大。域中有四大，而人居其一焉。人法地，地法天，天法道，道法自然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5400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C2823"/>
                </a:solidFill>
                <a:latin typeface="Kaiti SC"/>
                <a:ea typeface="Kaiti SC"/>
                <a:cs typeface="Kaiti SC"/>
                <a:sym typeface="Kaiti SC"/>
              </a:rPr>
              <a:t>有一个东西混然而成，在天地形成之前就已经存在。它无声无形，独立长存而永不改变，循环运行而永不停止，可以作为天地万物的根源。我不知道它的名字，姑且叫它“道”，勉强给它起个名字叫“大”。它广大无边而运行不息，运行不息而伸展遥远，伸展遥远而回归本源。所以说，道大，天大，地大，人也大。宇宙间有四大，而人是其中之一。人效法地，地效法天，天效法道，道效法自然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第二十六章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9F4EB">
              <a:alpha val="60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184958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 err="1">
                <a:solidFill>
                  <a:srgbClr val="3D2923"/>
                </a:solidFill>
                <a:latin typeface="Kaiti SC"/>
                <a:ea typeface="Kaiti SC"/>
                <a:cs typeface="Kaiti SC"/>
                <a:sym typeface="Kaiti SC"/>
              </a:rPr>
              <a:t>重为轻根，静为躁君。是以圣人终日行不离辎重。虽有荣观，燕处超然。奈何万乘之主，而以身轻天下？轻则失根，躁则失君</a:t>
            </a:r>
            <a:r>
              <a:rPr lang="en-US" sz="1600" b="0" i="0" u="none" strike="noStrike" dirty="0">
                <a:solidFill>
                  <a:srgbClr val="3D2923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9F4EB">
              <a:alpha val="60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670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>
                <a:solidFill>
                  <a:srgbClr val="59453B"/>
                </a:solidFill>
                <a:latin typeface="Kaiti SC"/>
                <a:ea typeface="Kaiti SC"/>
                <a:cs typeface="Kaiti SC"/>
                <a:sym typeface="Kaiti SC"/>
              </a:rPr>
              <a:t>稳重是轻率的根本，宁静是躁动的主宰。因此，圣人终日行走也不离开装载物资的车辆。虽身处繁华宫殿，却能安然处之、超然物外。为何大国君主，要以轻率之心治理天下？轻率便会失去根本，躁动就会失去主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778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—— 守静笃以修身，安稳重以治国 ——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第二十七章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207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spcAft>
                <a:spcPts val="1500"/>
              </a:spcAft>
              <a:defRPr/>
            </a:pPr>
            <a:r>
              <a:rPr lang="en-US" sz="2000" b="1" i="0" u="none" strike="noStrike" dirty="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</a:t>
            </a:r>
            <a:r>
              <a:rPr lang="en-US" sz="2000" b="1" i="0" u="none" strike="noStrike" dirty="0" err="1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原文</a:t>
            </a:r>
            <a:r>
              <a:rPr lang="en-US" sz="2000" b="1" i="0" u="none" strike="noStrike" dirty="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】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 dirty="0">
                <a:solidFill>
                  <a:srgbClr val="3D2823"/>
                </a:solidFill>
                <a:latin typeface="Kaiti SC"/>
                <a:ea typeface="Kaiti SC"/>
                <a:cs typeface="Kaiti SC"/>
                <a:sym typeface="Kaiti SC"/>
              </a:rPr>
              <a:t>善行无辙迹，善言无瑕谪；善数不用筹策；善闭无关键而不可开；善结无绳约而不可解。是以圣人常善救人，故无弃人；常善救物，故无弃物。是谓袭明。故善人者，不善人之师；不善人者，善人之资。不贵其师，不爱其资，虽智大迷，是谓要妙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905000"/>
            <a:ext cx="5207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spcAft>
                <a:spcPts val="1500"/>
              </a:spcAft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523E34"/>
                </a:solidFill>
                <a:latin typeface="Kaiti SC"/>
                <a:ea typeface="Kaiti SC"/>
                <a:cs typeface="Kaiti SC"/>
                <a:sym typeface="Kaiti SC"/>
              </a:rPr>
              <a:t>善于行走的人不留痕迹，善于言说的人没有瑕疵；善于计算的人无需筹码；善于关闭的人不用门闩却无人能开；善于打结的人不用绳索却无人能解。因此，圣人总是善于救助他人，所以没有被遗弃的人；总是善于利用万物，所以没有被废弃的物，这便是内藏的大智慧。所以，善人是不善之人的老师，不善之人亦是善人的借鉴。不尊重自己的老师，不爱惜可借鉴的资源，即便看似聪明，实则陷入大迷惑，这正是道的深奥与精妙之处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第二十八章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24037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33241E"/>
                </a:solidFill>
                <a:latin typeface="Kaiti SC"/>
                <a:ea typeface="Kaiti SC"/>
                <a:cs typeface="Kaiti SC"/>
                <a:sym typeface="Kaiti SC"/>
              </a:rPr>
              <a:t>知其雄，守其雌，为天下溪。为天下溪，常德不离，复归于婴儿。知其白，守其黑，为天下式。为天下式，常德不忒，复归于无极。知其荣，守其辱，为天下谷。为天下谷，常德乃足，复归于朴。朴散则为器，圣人用之，则为官长，故大制不割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670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3241E"/>
                </a:solidFill>
                <a:latin typeface="Kaiti SC"/>
                <a:ea typeface="Kaiti SC"/>
                <a:cs typeface="Kaiti SC"/>
                <a:sym typeface="Kaiti SC"/>
              </a:rPr>
              <a:t>知道什么是刚强，却安守柔弱，甘愿做天下的溪流，永恒的德便不会离失，回归婴儿般的纯真。知道什么是光明，却安守暗昧，甘愿做天下的楷模，永恒的德便不会有差错，回归无限的本源。知道什么是荣耀，却安守卑辱，甘愿做天下的山谷，永恒的德便会充足，回归质朴的本真。质朴的道分散而成万物，圣人运用此道，便能成为众人的首领，因此最完善的制度是浑然一体、不可分割的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第二十九章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2582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3D2924"/>
                </a:solidFill>
                <a:latin typeface="Kaiti SC"/>
                <a:ea typeface="Kaiti SC"/>
                <a:cs typeface="Kaiti SC"/>
                <a:sym typeface="Kaiti SC"/>
              </a:rPr>
              <a:t>将欲取天下而为之，吾见其不得已。天下神器，不可为也，不可执也。为者败之，执者失之。故物或行或随；或歔或吹；或强或羸；或载或隳。是以圣人去甚，去奢，去泰。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3D2924"/>
                </a:solidFill>
                <a:latin typeface="Kaiti SC"/>
                <a:ea typeface="Kaiti SC"/>
                <a:cs typeface="Kaiti SC"/>
                <a:sym typeface="Kaiti SC"/>
              </a:rPr>
              <a:t>想要治理天下而强行作为，我看他是达不到目的的。天下是神圣的东西，不可以强行作为，不可以把持占有。强行作为的人会失败，把持占有的人会失去。所以万物有的前行有的跟随；有的轻嘘有的急吹；有的强壮有的瘦弱；有的承载有的毁坏。因此，圣人要去除极端，去除奢侈，去除过度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176000" y="5969000"/>
            <a:ext cx="508000" cy="508000"/>
          </a:xfrm>
          <a:prstGeom prst="roundRect">
            <a:avLst>
              <a:gd name="adj" fmla="val 0"/>
            </a:avLst>
          </a:prstGeom>
          <a:solidFill>
            <a:srgbClr val="8C4B3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176000" y="5969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DF8F5"/>
                </a:solidFill>
                <a:latin typeface="Kaiti SC"/>
                <a:ea typeface="Kaiti SC"/>
                <a:cs typeface="Kaiti SC"/>
                <a:sym typeface="Kaiti SC"/>
              </a:rPr>
              <a:t>道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第三十章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7145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76400"/>
            <a:ext cx="1016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以道佐人主者，不以兵强天下。其事好还。师之所处，荆棘生焉。大军之后，必有凶年。善有果而已，不敢以取强。果而勿矜，果而勿伐，果而勿骄，果而不得已，果而勿强。物壮则老，是谓不道，不道早已。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37489" r="37489"/>
          <a:stretch>
            <a:fillRect/>
          </a:stretch>
        </p:blipFill>
        <p:spPr>
          <a:xfrm>
            <a:off x="762000" y="3556000"/>
            <a:ext cx="4064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solidFill>
              <a:srgbClr val="8C4B3D">
                <a:alpha val="4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5334000" y="3556000"/>
            <a:ext cx="609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3228"/>
                </a:solidFill>
                <a:latin typeface="Kaiti SC"/>
                <a:ea typeface="Kaiti SC"/>
                <a:cs typeface="Kaiti SC"/>
                <a:sym typeface="Kaiti SC"/>
              </a:rPr>
              <a:t>有道的君主，不靠武力逞强于天下。穷兵黩武必将招致报应，军队所到之处，民生凋敝，大战过后必有荒年。善用兵者，只求达成保卫的目的便止，绝不恃强凌弱。事成而不自大、不夸耀、不骄纵，只因出于不得已而为之。须知事物强盛至极便会走向衰老，这是不合于道的，不合于道的事物注定会快速消亡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0" y="5969000"/>
            <a:ext cx="1397000" cy="406400"/>
          </a:xfrm>
          <a:prstGeom prst="roundRect">
            <a:avLst>
              <a:gd name="adj" fmla="val 0"/>
            </a:avLst>
          </a:prstGeom>
          <a:solidFill>
            <a:srgbClr val="8C4B3D">
              <a:alpha val="15000"/>
            </a:srgbClr>
          </a:solidFill>
          <a:ln w="12700" cap="flat" cmpd="sng">
            <a:solidFill>
              <a:srgbClr val="8C4B3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0" y="59690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反战止戈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第三十一章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4B2E25"/>
                </a:solidFill>
                <a:latin typeface="Kaiti SC"/>
                <a:ea typeface="Kaiti SC"/>
                <a:cs typeface="Kaiti SC"/>
                <a:sym typeface="Kaiti SC"/>
              </a:rPr>
              <a:t>夫兵者，不祥之器，物或恶之，故有道者不处。君子居则贵左，用兵则贵右。兵者不祥之器，非君子之器，不得已而用之，恬淡为上。胜而不美，而美之者，是乐杀人。夫乐杀人者，则不可以得志于天下矣。吉事尚左，凶事尚右。偏将军居左，上将军居右，言以丧礼处之。杀人之众，以悲哀泣之，战胜以丧礼处之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540000"/>
            <a:ext cx="4699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B2E25"/>
                </a:solidFill>
                <a:latin typeface="Kaiti SC"/>
                <a:ea typeface="Kaiti SC"/>
                <a:cs typeface="Kaiti SC"/>
                <a:sym typeface="Kaiti SC"/>
              </a:rPr>
              <a:t>兵器是不祥之物，万物皆厌之，故有道之人不轻易使用。君子平时以左为尊，用兵时则以右为尊，因兵事不祥。若非万不得已而用之，亦应以恬淡之心待之。胜而不骄，若以此为荣，便是乐于杀人。好杀者，终难取信于天下。吉庆之事尚左，凶丧之事尚右。偏将军居左，上将军居右，意为以丧礼之仪待战事。杀人众多，当怀悲戚之心；即便战胜，亦须以丧礼处置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第三十二章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26854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500" b="0" i="0" u="none" strike="noStrike" dirty="0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  <a:t>道常无名，朴。虽小，天下莫能臣。侯王若能守之，万物将自宾。天地相合，以降甘露，民莫之令而自均。始制有名，名亦既有，夫亦将知止，知止可以不殆。譬道之在天下，犹川谷之于江海。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6223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2413000"/>
            <a:ext cx="5207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500" b="0" i="0" u="none" strike="noStrike">
                <a:solidFill>
                  <a:srgbClr val="503A2D"/>
                </a:solidFill>
                <a:latin typeface="Kaiti SC"/>
                <a:ea typeface="Kaiti SC"/>
                <a:cs typeface="Kaiti SC"/>
                <a:sym typeface="Kaiti SC"/>
              </a:rPr>
              <a:t>道永远是无名而质朴的。它虽然微小，天下却没有人能使它臣服。侯王如果能守住它，万物将会自动归顺。天地间阴阳之气相合，就会降下甘露，百姓不用命令它就会自然均匀。开始建立制度，就有了名称，名称既然有了，就要知道适可而止，知道适可而止就可以避免危险。道存在于天下，就像川谷流向江海一样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287000" y="5969000"/>
            <a:ext cx="1397000" cy="457200"/>
          </a:xfrm>
          <a:prstGeom prst="roundRect">
            <a:avLst>
              <a:gd name="adj" fmla="val 0"/>
            </a:avLst>
          </a:prstGeom>
          <a:solidFill>
            <a:srgbClr val="8C4B3D">
              <a:alpha val="80000"/>
            </a:srgbClr>
          </a:solidFill>
          <a:ln cap="flat" cmpd="sng">
            <a:solidFill>
              <a:srgbClr val="733426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287000" y="5969000"/>
            <a:ext cx="139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4902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道法自然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第三十三章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699000" cy="22294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800" b="0" i="0" u="none" strike="noStrike" dirty="0" err="1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知人者智，自知者明</a:t>
            </a:r>
            <a:r>
              <a:rPr lang="en-US" sz="18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br>
              <a:rPr lang="en-US" sz="18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800" b="0" i="0" u="none" strike="noStrike" dirty="0" err="1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胜人者有力，自胜者强</a:t>
            </a:r>
            <a:r>
              <a:rPr lang="en-US" sz="18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br>
              <a:rPr lang="en-US" sz="18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800" b="0" i="0" u="none" strike="noStrike" dirty="0" err="1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知足者富，强行者有志</a:t>
            </a:r>
            <a:r>
              <a:rPr lang="en-US" sz="18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br>
              <a:rPr lang="en-US" sz="18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800" b="0" i="0" u="none" strike="noStrike" dirty="0" err="1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不失其所者久，死而不亡者寿</a:t>
            </a:r>
            <a:r>
              <a:rPr lang="en-US" sz="18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305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Songti SC"/>
                <a:ea typeface="Songti SC"/>
                <a:cs typeface="Songti SC"/>
                <a:sym typeface="Songti SC"/>
              </a:rPr>
              <a:t>能了解他人的人是智慧的，能认识自己的人才是高明的。能战胜别人的人有力量，能战胜自己的人才是真正的强者。懂得知足的人就是富有，坚持力行的人是有志气的。不丧失立身之本的人才能长久，身死而精神永存的人才是真正的长寿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603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4B3D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自知者明，自胜者强，此乃修身处世之真谛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第三十四章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5F0E6">
              <a:alpha val="6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22652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332621"/>
                </a:solidFill>
                <a:latin typeface="Kaiti SC"/>
                <a:ea typeface="Kaiti SC"/>
                <a:cs typeface="Kaiti SC"/>
                <a:sym typeface="Kaiti SC"/>
              </a:rPr>
              <a:t>大道泛兮，其可左右。万物恃之以生而不辞，功成而不有。衣养万物而不为主，可名于小；万物归焉而不为主，可名为大。以其终不自为大，故能成其大。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5F0E6">
              <a:alpha val="6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67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6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大道广泛流行，无处不在。万物依靠它生长而它从不推辞，成就了万物而它不据为己有。它养育万物而不自以为主宰，故称“小”；万物归附它而它不自以为主宰，故称“大”。正因为它始终不自以为大，所以才能成就它的伟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603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4B3D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不自见，故明；不自是，故彰；不自伐，故有功；不自矜，故长 ——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第三十五章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192578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4A332E"/>
                </a:solidFill>
                <a:latin typeface="Kaiti SC"/>
                <a:ea typeface="Kaiti SC"/>
                <a:cs typeface="Kaiti SC"/>
                <a:sym typeface="Kaiti SC"/>
              </a:rPr>
              <a:t>执大象，天下往。往而不害，安平泰。乐与饵，过客止。道之出口，淡乎其无味，视之不足见，听之不足闻，用之不足既</a:t>
            </a:r>
            <a:r>
              <a:rPr lang="en-US" sz="1600" b="0" i="0" u="none" strike="noStrike" dirty="0">
                <a:solidFill>
                  <a:srgbClr val="4A332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4A332E"/>
                </a:solidFill>
                <a:latin typeface="Kaiti SC"/>
                <a:ea typeface="Kaiti SC"/>
                <a:cs typeface="Kaiti SC"/>
                <a:sym typeface="Kaiti SC"/>
              </a:rPr>
              <a:t>掌握了大道的法则，天下人都会来归附。归附了而不互相伤害，就会和平、安宁、安泰。音乐和美食，能让过路的人停下脚步。而道说出来，却平淡无味，看它看不见，听它听不到，但它的作用却无穷无尽。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77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8C4B3D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大道无形，润物无声 ——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第三十六章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8EB">
              <a:alpha val="5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699000" cy="22017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3D261E"/>
                </a:solidFill>
                <a:latin typeface="Kaiti SC"/>
                <a:ea typeface="Kaiti SC"/>
                <a:cs typeface="Kaiti SC"/>
                <a:sym typeface="Kaiti SC"/>
              </a:rPr>
              <a:t>将欲歙之，必固张之；将欲弱之，必固强之；将欲废之，必固兴之；将欲取之，必固与之。是谓微明。柔弱胜刚强。鱼不可脱于渊，国之利器不可以示人。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8EB">
              <a:alpha val="5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30500"/>
            <a:ext cx="4699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3D261E"/>
                </a:solidFill>
                <a:latin typeface="Kaiti SC"/>
                <a:ea typeface="Kaiti SC"/>
                <a:cs typeface="Kaiti SC"/>
                <a:sym typeface="Kaiti SC"/>
              </a:rPr>
              <a:t>想要收敛它，必先扩张它；想要削弱它，必先加强它；想要废除它，必先兴盛它；想要夺取它，必先给予它。这叫做微妙的智慧。柔弱能够战胜刚强。鱼不能离开深渊，国家的利器不能展示给人看。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8C4B3D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洞察物极必反之理，持守柔弱守静之道 ——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道经 · 第三十七章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07000" cy="22190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 dirty="0" err="1">
                <a:solidFill>
                  <a:srgbClr val="3D2620"/>
                </a:solidFill>
                <a:latin typeface="Kaiti SC"/>
                <a:ea typeface="Kaiti SC"/>
                <a:cs typeface="Kaiti SC"/>
                <a:sym typeface="Kaiti SC"/>
              </a:rPr>
              <a:t>道常无为而无不为。侯王若能守之，万物将自化。化而欲作，吾将镇之以无名之朴。无名之朴，夫亦将无欲。不欲以静，天下将自定</a:t>
            </a:r>
            <a:r>
              <a:rPr lang="en-US" sz="1800" b="0" i="0" u="none" strike="noStrike" dirty="0">
                <a:solidFill>
                  <a:srgbClr val="3D2620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6223000" y="1905000"/>
            <a:ext cx="520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2667000"/>
            <a:ext cx="5207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50000"/>
              </a:lnSpc>
              <a:defRPr/>
            </a:pPr>
            <a:r>
              <a:rPr lang="en-US" sz="1700" b="0" i="0" u="none" strike="noStrike">
                <a:solidFill>
                  <a:srgbClr val="573C33"/>
                </a:solidFill>
                <a:latin typeface="Kaiti SC"/>
                <a:ea typeface="Kaiti SC"/>
                <a:cs typeface="Kaiti SC"/>
                <a:sym typeface="Kaiti SC"/>
              </a:rPr>
              <a:t>道永远是顺应自然、无为而治的，但世间万物又没有一件事不是它所成就的。统治者若能持守此道，万物便会顺应本性自然生长与演化。若在发展中滋生出过度的贪欲与妄念，便用“无名之朴”的本真去镇抚人心。这种质朴能让人消解欲望，内心无贪念则天下自然归于平静，社会秩序也会随之安定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350500" y="5842000"/>
            <a:ext cx="1079500" cy="406400"/>
          </a:xfrm>
          <a:prstGeom prst="roundRect">
            <a:avLst>
              <a:gd name="adj" fmla="val 0"/>
            </a:avLst>
          </a:prstGeom>
          <a:solidFill>
            <a:srgbClr val="8C4B3D">
              <a:alpha val="12000"/>
            </a:srgbClr>
          </a:solidFill>
          <a:ln w="12700" cap="flat" cmpd="sng">
            <a:solidFill>
              <a:srgbClr val="8C4B3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350500" y="5842000"/>
            <a:ext cx="107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道法自然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第三十八章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8E1">
              <a:alpha val="6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76500"/>
            <a:ext cx="4699000" cy="25850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 dirty="0">
                <a:solidFill>
                  <a:srgbClr val="3C2823"/>
                </a:solidFill>
                <a:latin typeface="Kaiti SC"/>
                <a:ea typeface="Kaiti SC"/>
                <a:cs typeface="Kaiti SC"/>
                <a:sym typeface="Kaiti SC"/>
              </a:rPr>
              <a:t>上德不德，是以有德；下德不失德，是以无德。上德无为而无以为；下德无为而有以为。上仁为之而无以为；上义为之而有以为。上礼为之而莫之应，则攘臂而扔之。故失道而后德，失德而后仁，失仁而后义，失义而后礼。夫礼者，忠信之薄，而乱之首。前识者，道之华，而愚之始。是以大丈夫处其厚，不居其薄；处其实，不居其华。故去彼取此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8E1">
              <a:alpha val="6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476500"/>
            <a:ext cx="4699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C2823"/>
                </a:solidFill>
                <a:latin typeface="Kaiti SC"/>
                <a:ea typeface="Kaiti SC"/>
                <a:cs typeface="Kaiti SC"/>
                <a:sym typeface="Kaiti SC"/>
              </a:rPr>
              <a:t>最高尚的德是不刻意表现德，所以才有德；低下的德是执着于形式上的德，所以反而没有德。上德顺应自然无心作为，下德则是有意而为。上仁有所作为却出于自然，上义有所作为却是刻意而为。上礼若得不到回应，就会强迫他人遵从。故失道而后有德，失德而后有仁，失仁而后有义，失义而后有礼。礼是忠信的匮乏，是祸乱的开端。所谓的“先知”，不过是道的虚华，是愚昧的开始。因此，大丈夫立身淳厚，不居于浅薄；立身实在，不居于虚华。故而舍弃虚华，取其本真。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第三十九章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30249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332924"/>
                </a:solidFill>
                <a:latin typeface="Kaiti SC"/>
                <a:ea typeface="Kaiti SC"/>
                <a:cs typeface="Kaiti SC"/>
                <a:sym typeface="Kaiti SC"/>
              </a:rPr>
              <a:t>昔之得一者：天得一以清；地得一以宁；神得一以灵；谷得一以盈；万物得一以生；侯王得一以为天下正。其致之也，谓天无以清，将恐裂；地无以宁，将恐废；神无以灵，将恐歇；谷无以盈，将恐竭；万物无以生，将恐灭；侯王无以正，将恐蹶。故贵以贱为本，高以下为基。是以侯王自称孤、寡、不谷。此非以贱为本邪？非乎？故致誉无誉。是故不欲琭琭如玉，珞珞如石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6096000" y="1778000"/>
            <a:ext cx="12700" cy="4064000"/>
          </a:xfrm>
          <a:prstGeom prst="roundRect">
            <a:avLst>
              <a:gd name="adj" fmla="val 0"/>
            </a:avLst>
          </a:prstGeom>
          <a:solidFill>
            <a:srgbClr val="8C4B3D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286000"/>
            <a:ext cx="5207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A3C36"/>
                </a:solidFill>
                <a:latin typeface="Kaiti SC"/>
                <a:ea typeface="Kaiti SC"/>
                <a:cs typeface="Kaiti SC"/>
                <a:sym typeface="Kaiti SC"/>
              </a:rPr>
              <a:t>自古以来，凡是得到“一”（即道）的：天得到一而清明，地得到一而安宁，神得到一而灵验，河谷得到一而充盈，万物得到一而生长，侯王得到一而成为天下的主宰。推而言之，如果天不能保持清明，恐怕就要崩裂；地不能保持安宁，恐怕就要塌陷；神不能保持灵验，恐怕就要消失；河谷不能保持充盈，恐怕就要枯竭；万物不能保持生长，恐怕就要灭绝；侯王不能保持主宰地位，恐怕就要倾覆。所以尊贵以卑贱为根本，高大以低下为基础。因此，侯王自称“孤”、“寡”、“不谷”。这不正是以卑贱为根本吗？难道不是吗？所以追求极致的荣誉反而得不到真正的荣誉。因此，不希望像美玉那样华丽，而希望像石头那样质朴本真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414000" y="5969000"/>
            <a:ext cx="1016000" cy="304800"/>
          </a:xfrm>
          <a:prstGeom prst="roundRect">
            <a:avLst>
              <a:gd name="adj" fmla="val 0"/>
            </a:avLst>
          </a:prstGeom>
          <a:solidFill>
            <a:srgbClr val="8C4B3D">
              <a:alpha val="15000"/>
            </a:srgbClr>
          </a:solidFill>
          <a:ln w="12700" cap="flat" cmpd="sng">
            <a:solidFill>
              <a:srgbClr val="8C4B3D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道法自然</a:t>
            </a:r>
            <a:endParaRPr lang="en-US"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第四十章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714500"/>
          </a:xfrm>
          <a:prstGeom prst="roundRect">
            <a:avLst>
              <a:gd name="adj" fmla="val 0"/>
            </a:avLst>
          </a:prstGeom>
          <a:solidFill>
            <a:srgbClr val="F9F5EE">
              <a:alpha val="6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1016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 dirty="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</a:t>
            </a:r>
            <a:r>
              <a:rPr lang="en-US" sz="2200" b="1" i="0" u="none" strike="noStrike" dirty="0" err="1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原文</a:t>
            </a:r>
            <a:r>
              <a:rPr lang="en-US" sz="2200" b="1" i="0" u="none" strike="noStrike" dirty="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】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800" b="0" i="0" u="none" strike="noStrike" dirty="0" err="1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反者道之动；弱者道之用</a:t>
            </a:r>
            <a:r>
              <a:rPr lang="en-US" sz="18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</a:p>
          <a:p>
            <a:pPr marL="0" indent="0" algn="l">
              <a:lnSpc>
                <a:spcPct val="125000"/>
              </a:lnSpc>
            </a:pPr>
            <a:r>
              <a:rPr lang="en-US" sz="1800" b="0" i="0" u="none" strike="noStrike" dirty="0" err="1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天下万物生于有，有生于无</a:t>
            </a:r>
            <a:r>
              <a:rPr lang="en-US" sz="18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873500"/>
            <a:ext cx="10668000" cy="2349500"/>
          </a:xfrm>
          <a:prstGeom prst="roundRect">
            <a:avLst>
              <a:gd name="adj" fmla="val 0"/>
            </a:avLst>
          </a:prstGeom>
          <a:solidFill>
            <a:srgbClr val="F9F5EE">
              <a:alpha val="6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4064000"/>
            <a:ext cx="101600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事物向相反方向发展，是道的运动规律；柔弱，是道的作用方式。天下万物产生于有形的物质，有形的物质产生于无形的道。这一辩证法则揭示了宇宙循环往复的本质，也诠释了“无中生有”的宇宙生成论，体现了道家思想中深邃的辩证智慧与对万物本源的终极追问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11049000" y="5778500"/>
            <a:ext cx="889000" cy="889000"/>
          </a:xfrm>
          <a:prstGeom prst="ellipse">
            <a:avLst/>
          </a:prstGeom>
          <a:solidFill>
            <a:srgbClr val="8C4B3D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第四十一章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064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4889500" cy="2556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 dirty="0">
                <a:solidFill>
                  <a:srgbClr val="33221A"/>
                </a:solidFill>
                <a:latin typeface="Kaiti SC"/>
                <a:ea typeface="Kaiti SC"/>
                <a:cs typeface="Kaiti SC"/>
                <a:sym typeface="Kaiti SC"/>
              </a:rPr>
              <a:t>上士闻道，勤而行之；中士闻道，若存若亡；下士闻道，大笑之。不笑不足以为道。故建言有之：明道若昧，进道若退，夷道若颣。上德若谷，广德若不足，建德若偷，质真若渝，大白若辱，大方无隅，大器晚成，大音希声，大象无形。道隐无名，夫唯道，善贷且成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159500" y="1651000"/>
            <a:ext cx="5270500" cy="4064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0" y="1841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413000"/>
            <a:ext cx="48895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3221A"/>
                </a:solidFill>
                <a:latin typeface="Kaiti SC"/>
                <a:ea typeface="Kaiti SC"/>
                <a:cs typeface="Kaiti SC"/>
                <a:sym typeface="Kaiti SC"/>
              </a:rPr>
              <a:t>上等士人听闻大道，便勤勉践行；中等士人听闻，半信半疑、若有若无；下等士人听闻，则大声嘲笑。不被嘲笑，便不足以称其为道。古训有云：光明之道看似暗昧，前进之道看似后退，坦途看似崎岖。崇高之德如山谷般低下，广大之德似有欠缺，刚健之德宛若懈怠，纯真之德看似污浊，至洁之物似蒙尘垢，至方之器不见棱角，宏大之器最晚铸成，宏大之音难以听闻，宏大之象没有形迹。大道隐微而无名，唯有道，善于施予万物并成就万物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414000" y="5969000"/>
            <a:ext cx="1016000" cy="381000"/>
          </a:xfrm>
          <a:prstGeom prst="roundRect">
            <a:avLst>
              <a:gd name="adj" fmla="val 0"/>
            </a:avLst>
          </a:prstGeom>
          <a:solidFill>
            <a:srgbClr val="A52A2A">
              <a:alpha val="12000"/>
            </a:srgbClr>
          </a:solidFill>
          <a:ln w="12700" cap="flat" cmpd="sng">
            <a:solidFill>
              <a:srgbClr val="A52A2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414000" y="5969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B0000"/>
                </a:solidFill>
                <a:latin typeface="Kaiti SC"/>
                <a:ea typeface="Kaiti SC"/>
                <a:cs typeface="Kaiti SC"/>
                <a:sym typeface="Kaiti SC"/>
              </a:rPr>
              <a:t>悟道</a:t>
            </a:r>
            <a:endParaRPr lang="en-US"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第四十二章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9685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1016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Kaiti SC"/>
                <a:ea typeface="Kaiti SC"/>
                <a:cs typeface="Kaiti SC"/>
                <a:sym typeface="Kaiti SC"/>
              </a:rPr>
              <a:t>道生一，一生二，二生三，三生万物。万物负阴而抱阳，冲气以为和</a:t>
            </a:r>
            <a:r>
              <a:rPr lang="en-US" sz="1600" b="0" i="0" u="none" strike="noStrike" dirty="0">
                <a:solidFill>
                  <a:srgbClr val="333333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</a:p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Kaiti SC"/>
                <a:ea typeface="Kaiti SC"/>
                <a:cs typeface="Kaiti SC"/>
                <a:sym typeface="Kaiti SC"/>
              </a:rPr>
              <a:t>人之所恶，唯孤、寡、不谷，而王公以为称。故物或损之而益，或益之而损。人之所教，我亦教之</a:t>
            </a:r>
            <a:r>
              <a:rPr lang="en-US" sz="1600" b="0" i="0" u="none" strike="noStrike" dirty="0">
                <a:solidFill>
                  <a:srgbClr val="333333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</a:p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Kaiti SC"/>
                <a:ea typeface="Kaiti SC"/>
                <a:cs typeface="Kaiti SC"/>
                <a:sym typeface="Kaiti SC"/>
              </a:rPr>
              <a:t>强梁者不得其死，吾将以为教父</a:t>
            </a:r>
            <a:r>
              <a:rPr lang="en-US" sz="1600" b="0" i="0" u="none" strike="noStrike" dirty="0">
                <a:solidFill>
                  <a:srgbClr val="333333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62000" y="3937000"/>
            <a:ext cx="10668000" cy="23495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4127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572000"/>
            <a:ext cx="10160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Songti SC"/>
                <a:ea typeface="Songti SC"/>
                <a:cs typeface="Songti SC"/>
                <a:sym typeface="Songti SC"/>
              </a:rPr>
              <a:t>道产生了一，一产生了二，二产生了三，三进而生成世间万物。万物皆蕴含阴阳两种气，二者相互激荡、交融，最终达到和谐的状态。人们所厌恶的“孤”“寡”“不谷”，反而被王公贵族用作自我谦称。世间事物往往蕴含辩证之理：刻意减损它，反而可能使其增益；一味增益它，反而可能使其受损。他人传授于我的道理，我也将以此来教导众人。要知道，强暴强横的人终究不得善终，我将把这一道理作为教化的根本准则。</a:t>
            </a:r>
            <a:endParaRPr lang="en-US" sz="1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第四十三章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1713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46281E"/>
                </a:solidFill>
                <a:latin typeface="Kaiti SC"/>
                <a:ea typeface="Kaiti SC"/>
                <a:cs typeface="Kaiti SC"/>
                <a:sym typeface="Kaiti SC"/>
              </a:rPr>
              <a:t>天下之至柔，驰骋天下之至坚。无有入无间，吾是以知无为之有益。不言之教，无为之益，天下希及之</a:t>
            </a:r>
            <a:r>
              <a:rPr lang="en-US" sz="1600" b="0" i="0" u="none" strike="noStrike" dirty="0">
                <a:solidFill>
                  <a:srgbClr val="4628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8415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46281E"/>
                </a:solidFill>
                <a:latin typeface="Kaiti SC"/>
                <a:ea typeface="Kaiti SC"/>
                <a:cs typeface="Kaiti SC"/>
                <a:sym typeface="Kaiti SC"/>
              </a:rPr>
              <a:t>天下最柔软的东西，可以驾驭天下最坚硬的东西。无形的力量能穿透没有间隙的物体，由此可知“无为”的深远益处。这种无需言语的教化，以及顺应自然的智慧，世间很少有人能够真正领悟并做到。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71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8C4B3D">
                    <a:alpha val="85098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柔弱之水，能穿坚石；无为之道，能治天下 ——</a:t>
            </a:r>
            <a:endParaRPr lang="en-US" sz="11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第四十四章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03500"/>
            <a:ext cx="4699000" cy="15805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332823"/>
                </a:solidFill>
                <a:latin typeface="Kaiti SC"/>
                <a:ea typeface="Kaiti SC"/>
                <a:cs typeface="Kaiti SC"/>
                <a:sym typeface="Kaiti SC"/>
              </a:rPr>
              <a:t>名与身孰亲？身与货孰多？得与亡孰病？甚爱必大费；多藏必厚亡。故知足不辱，知止不殆，可以长久</a:t>
            </a:r>
            <a:r>
              <a:rPr lang="en-US" sz="1600" b="0" i="0" u="none" strike="noStrike" dirty="0">
                <a:solidFill>
                  <a:srgbClr val="332823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035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C322D"/>
                </a:solidFill>
                <a:latin typeface="Noto Serif SC"/>
                <a:ea typeface="Noto Serif SC"/>
                <a:cs typeface="Noto Serif SC"/>
                <a:sym typeface="Noto Serif SC"/>
              </a:rPr>
              <a:t>名声与生命，哪个更值得珍视？生命与财富，哪个更为重要？得到与失去，哪个更令人困扰？过分爱惜名声，必然付出巨大代价；过度聚敛财物，终将招致惨重损失。因此，懂得知足便不会受辱，懂得适可而止便不会有危险，唯有如此，方能长久安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651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>
                    <a:alpha val="85098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知足常乐，知止不殆 ——</a:t>
            </a:r>
            <a:endParaRPr lang="en-US" sz="1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第四十五章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8F5EE">
              <a:alpha val="7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699000" cy="18322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422B24"/>
                </a:solidFill>
                <a:latin typeface="Kaiti SC"/>
                <a:ea typeface="Kaiti SC"/>
                <a:cs typeface="Kaiti SC"/>
                <a:sym typeface="Kaiti SC"/>
              </a:rPr>
              <a:t>大成若缺，其用不弊。大盈若冲，其用不穷。大直若屈，大巧若拙，大辩若讷。躁胜寒，静胜热。清静为天下正</a:t>
            </a:r>
            <a:r>
              <a:rPr lang="en-US" sz="1600" b="0" i="0" u="none" strike="noStrike" dirty="0">
                <a:solidFill>
                  <a:srgbClr val="422B24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8415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8F5EE">
              <a:alpha val="7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305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Songti SC"/>
                <a:ea typeface="Songti SC"/>
                <a:cs typeface="Songti SC"/>
                <a:sym typeface="Songti SC"/>
              </a:rPr>
              <a:t>最圆满的东西好像有欠缺，但它的作用不会衰竭；最充盈的东西好像很空虚，但它的作用不会穷尽。最正直的仿佛弯曲，最灵巧的仿佛笨拙，最善辩的仿佛木讷。躁动可以战胜寒冷，宁静可以战胜炎热。保持内心的清静，才是治理天下的根本准则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77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C4B3D">
                    <a:alpha val="74902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反者道之动，弱者道之用 ——</a:t>
            </a:r>
            <a:endParaRPr lang="en-US"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第四十六章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032" r="1032"/>
          <a:stretch>
            <a:fillRect/>
          </a:stretch>
        </p:blipFill>
        <p:spPr>
          <a:xfrm>
            <a:off x="762000" y="1778000"/>
            <a:ext cx="3556000" cy="2413000"/>
          </a:xfrm>
          <a:prstGeom prst="rect">
            <a:avLst/>
          </a:prstGeom>
          <a:noFill/>
          <a:ln w="25400" cap="flat" cmpd="sng">
            <a:solidFill>
              <a:srgbClr val="8C4B3D">
                <a:alpha val="4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8C4B3D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“有道则马耕于野，</a:t>
            </a:r>
            <a:br>
              <a:rPr lang="en-US" sz="1600" b="0" i="0" u="none" strike="noStrike">
                <a:solidFill>
                  <a:srgbClr val="8C4B3D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600" b="0" i="0" u="none" strike="noStrike">
                <a:solidFill>
                  <a:srgbClr val="8C4B3D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无道则马战于郊。</a:t>
            </a:r>
            <a:br>
              <a:rPr lang="en-US" sz="1600" b="0" i="0" u="none" strike="noStrike">
                <a:solidFill>
                  <a:srgbClr val="8C4B3D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600" b="0" i="0" u="none" strike="noStrike">
                <a:solidFill>
                  <a:srgbClr val="8C4B3D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人心之贪，乃祸乱之源。”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1778000"/>
            <a:ext cx="6604000" cy="1714500"/>
          </a:xfrm>
          <a:prstGeom prst="roundRect">
            <a:avLst>
              <a:gd name="adj" fmla="val 0"/>
            </a:avLst>
          </a:prstGeom>
          <a:solidFill>
            <a:srgbClr val="8C4B3D">
              <a:alpha val="6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016500" y="1930400"/>
            <a:ext cx="622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332924"/>
                </a:solidFill>
                <a:latin typeface="Kaiti SC"/>
                <a:ea typeface="Kaiti SC"/>
                <a:cs typeface="Kaiti SC"/>
                <a:sym typeface="Kaiti SC"/>
              </a:rPr>
              <a:t>天下有道，却走马以粪。天下无道，戎马生于郊。祸莫大于不知足；咎莫大于欲得。故知足之足，常足矣。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826000" y="3746500"/>
            <a:ext cx="6604000" cy="2095500"/>
          </a:xfrm>
          <a:prstGeom prst="roundRect">
            <a:avLst>
              <a:gd name="adj" fmla="val 0"/>
            </a:avLst>
          </a:prstGeom>
          <a:solidFill>
            <a:srgbClr val="8C4B3D">
              <a:alpha val="6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016500" y="3898900"/>
            <a:ext cx="622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443A35"/>
                </a:solidFill>
                <a:latin typeface="Noto Sans SC"/>
                <a:ea typeface="Noto Sans SC"/>
                <a:cs typeface="Noto Sans SC"/>
                <a:sym typeface="Noto Sans SC"/>
              </a:rPr>
              <a:t>天下有道时，战马被用来耕田施肥；天下无道时，怀胎的母马也要被送上战场。世间最大的祸患，莫过于内心的不知足；最大的过错，莫过于贪得无厌。真正的富足，并非拥有无尽的财富，而是懂得知足，这种精神上的满足，才是永恒不变的富足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81000" y="60325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C4B3D">
                    <a:alpha val="90196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知足不辱，知止不殆，可以长久 ——</a:t>
            </a:r>
            <a:endParaRPr lang="en-US" sz="11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第四十七章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16510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 err="1">
                <a:solidFill>
                  <a:srgbClr val="3D261E"/>
                </a:solidFill>
                <a:latin typeface="Kaiti SC"/>
                <a:ea typeface="Kaiti SC"/>
                <a:cs typeface="Kaiti SC"/>
                <a:sym typeface="Kaiti SC"/>
              </a:rPr>
              <a:t>不出户，知天下；不窥牖，见天道。其出弥远，其知弥少。是以圣人不行而知，不见而明，不为而成</a:t>
            </a:r>
            <a:r>
              <a:rPr lang="en-US" sz="1600" b="0" i="0" u="none" strike="noStrike" dirty="0">
                <a:solidFill>
                  <a:srgbClr val="3D26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67000"/>
            <a:ext cx="469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>
                <a:solidFill>
                  <a:srgbClr val="3D261E"/>
                </a:solidFill>
                <a:latin typeface="Kaiti SC"/>
                <a:ea typeface="Kaiti SC"/>
                <a:cs typeface="Kaiti SC"/>
                <a:sym typeface="Kaiti SC"/>
              </a:rPr>
              <a:t>不出家门，就能知道天下的事情；不看窗外，就能认识自然的规律。走得越远，知道的反而越少。因此，圣人不用出行就能知道，不用看见就能明了，不用作为就能成功。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651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8C4B3D">
                    <a:alpha val="85098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静心内观，洞悉万物之道，方为大智慧</a:t>
            </a:r>
            <a:endParaRPr lang="en-US" sz="11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第四十八章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187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 err="1">
                <a:solidFill>
                  <a:srgbClr val="332923"/>
                </a:solidFill>
                <a:latin typeface="Kaiti SC"/>
                <a:ea typeface="Kaiti SC"/>
                <a:cs typeface="Kaiti SC"/>
                <a:sym typeface="Kaiti SC"/>
              </a:rPr>
              <a:t>为学日益，为道日损。损之又损，以至于无为。无为而无不为。取天下常以无事，及其有事，不足以取天下</a:t>
            </a:r>
            <a:r>
              <a:rPr lang="en-US" sz="1600" b="0" i="0" u="none" strike="noStrike" dirty="0">
                <a:solidFill>
                  <a:srgbClr val="332923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8415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41666"/>
              </a:lnSpc>
              <a:defRPr/>
            </a:pPr>
            <a:r>
              <a:rPr lang="en-US" sz="1500" b="0" i="0" u="none" strike="noStrike">
                <a:solidFill>
                  <a:srgbClr val="332923"/>
                </a:solidFill>
                <a:latin typeface="Kaiti SC"/>
                <a:ea typeface="Kaiti SC"/>
                <a:cs typeface="Kaiti SC"/>
                <a:sym typeface="Kaiti SC"/>
              </a:rPr>
              <a:t>追求学问，知识会一天比一天增加；追求道，私欲则会一天比一天减少。不断减少再减少，直至达到无为的境界。达到此境界，便没有什么事是做不成的。治理天下常常要依靠清静无为，若频繁地人为干预，反而不足以治理好天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350500" y="5969000"/>
            <a:ext cx="1079500" cy="406400"/>
          </a:xfrm>
          <a:prstGeom prst="roundRect">
            <a:avLst>
              <a:gd name="adj" fmla="val 0"/>
            </a:avLst>
          </a:prstGeom>
          <a:solidFill>
            <a:srgbClr val="A8383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350500" y="5969000"/>
            <a:ext cx="107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Kaiti SC"/>
                <a:ea typeface="Kaiti SC"/>
                <a:cs typeface="Kaiti SC"/>
                <a:sym typeface="Kaiti SC"/>
              </a:rPr>
              <a:t>道法自然</a:t>
            </a:r>
            <a:endParaRPr lang="en-US" sz="11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第四十九章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EBE1D2">
              <a:alpha val="55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23058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3A2A20"/>
                </a:solidFill>
                <a:latin typeface="Kaiti SC"/>
                <a:ea typeface="Kaiti SC"/>
                <a:cs typeface="Kaiti SC"/>
                <a:sym typeface="Kaiti SC"/>
              </a:rPr>
              <a:t>圣人无常心，以百姓心为心。善者，吾善之；不善者，吾亦善之，德善。信者，吾信之；不信者，吾亦信之，德信。圣人在天下，歙歙焉，为天下浑其心。百姓皆注其耳目，圣人皆孩之。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EBE1D2">
              <a:alpha val="55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A2A20"/>
                </a:solidFill>
                <a:latin typeface="Kaiti SC"/>
                <a:ea typeface="Kaiti SC"/>
                <a:cs typeface="Kaiti SC"/>
                <a:sym typeface="Kaiti SC"/>
              </a:rPr>
              <a:t>圣人没有一己之私，而是以百姓的意愿为意愿。对善良的人，我善待他；对不善良的人，我也善待他，这样就能让人人向善。对守信的人，我信任他；对不守信的人，我也信任他，这样就能让人人守信。圣人治理天下，收敛自己的锋芒与私欲，让天下人心回归质朴纯真。百姓专注于各自的见闻感受，圣人则将众人都视作纯真孩童般呵护与引导，让社会回归自然本真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985500" y="5842000"/>
            <a:ext cx="635000" cy="635000"/>
          </a:xfrm>
          <a:prstGeom prst="roundRect">
            <a:avLst>
              <a:gd name="adj" fmla="val 0"/>
            </a:avLst>
          </a:prstGeom>
          <a:solidFill>
            <a:srgbClr val="B22222">
              <a:alpha val="10000"/>
            </a:srgbClr>
          </a:solidFill>
          <a:ln w="12700" cap="flat" cmpd="sng">
            <a:solidFill>
              <a:srgbClr val="B22222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985500" y="59436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2222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道</a:t>
            </a:r>
            <a:br>
              <a:rPr lang="en-US" sz="1600" b="1" i="0" u="none" strike="noStrike">
                <a:solidFill>
                  <a:srgbClr val="B22222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600" b="1" i="0" u="none" strike="noStrike">
                <a:solidFill>
                  <a:srgbClr val="B22222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德</a:t>
            </a:r>
            <a:endParaRPr lang="en-US" sz="11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第五十章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1936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332621"/>
                </a:solidFill>
                <a:latin typeface="Kaiti SC"/>
                <a:ea typeface="Kaiti SC"/>
                <a:cs typeface="Kaiti SC"/>
                <a:sym typeface="Kaiti SC"/>
              </a:rPr>
              <a:t>出生入死。生之徒，十有三；死之徒，十有三；人之生，动之于死地，亦十有三。夫何故？以其生生之厚。盖闻善摄生者，陆行不遇兕虎，入军不被甲兵；兕无所投其角，虎无所用其爪，兵无所容其刃。夫何故？以其无死地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311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32621"/>
                </a:solidFill>
                <a:latin typeface="Kaiti SC"/>
                <a:ea typeface="Kaiti SC"/>
                <a:cs typeface="Kaiti SC"/>
                <a:sym typeface="Kaiti SC"/>
              </a:rPr>
              <a:t>人从出生到死亡。属于长寿的人，占十分之三；属于短命的人，占十分之三；人本来可以长寿，却自己走向死亡的，也占十分之三。这是什么原因呢？因为他们追求生活享受太过度了。听说善于保养生命的人，在陆地上行走不会遇到犀牛和老虎，进入战场不会受到兵器的伤害；犀牛用不上它的角，老虎用不上它的爪，兵器用不上它的刃。这是什么原因呢？因为他没有进入死亡的领域。</a:t>
            </a:r>
            <a:endParaRPr lang="en-US" sz="11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第五十一章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5F0E6">
              <a:alpha val="65000"/>
            </a:srgbClr>
          </a:solidFill>
          <a:ln w="12700" cap="flat" cmpd="sng">
            <a:solidFill>
              <a:srgbClr val="8C4B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03500"/>
            <a:ext cx="4699000" cy="21070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>
                <a:solidFill>
                  <a:srgbClr val="332924"/>
                </a:solidFill>
                <a:latin typeface="Kaiti SC"/>
                <a:ea typeface="Kaiti SC"/>
                <a:cs typeface="Kaiti SC"/>
                <a:sym typeface="Kaiti SC"/>
              </a:rPr>
              <a:t>道生之，德畜之，物形之，势成之。是以万物莫不尊道而贵德。道之尊，德之贵，夫莫之命而常自然。故道生之，德畜之；长之育之；亭之毒之；养之覆之。生而不有，为而不恃，长而不宰。是谓玄德。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5F0E6">
              <a:alpha val="65000"/>
            </a:srgbClr>
          </a:solidFill>
          <a:ln w="12700" cap="flat" cmpd="sng">
            <a:solidFill>
              <a:srgbClr val="8C4B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035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>
                <a:solidFill>
                  <a:srgbClr val="332924"/>
                </a:solidFill>
                <a:latin typeface="Kaiti SC"/>
                <a:ea typeface="Kaiti SC"/>
                <a:cs typeface="Kaiti SC"/>
                <a:sym typeface="Kaiti SC"/>
              </a:rPr>
              <a:t>道生成万物，德养育万物，物质赋予其形态，环境促成其发展。因此万物无不尊崇道而珍视德。道与德的尊贵，并非外力强加，而是自然本然。道生养万物，使其成长、发育、成熟并结果，予以滋养与庇护。生养万物却不占有，成就万物却不恃功，滋养万物却不主宰，这便是最深奥的“玄德”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0" y="5715000"/>
            <a:ext cx="889000" cy="889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25400" cap="flat" cmpd="sng">
            <a:solidFill>
              <a:srgbClr val="8C4B3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795000" y="571500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defRPr/>
            </a:pPr>
            <a:r>
              <a:rPr lang="en-US" sz="17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道法</a:t>
            </a:r>
            <a:br>
              <a:rPr lang="en-US" sz="17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7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自然</a:t>
            </a:r>
            <a:endParaRPr lang="en-US" sz="11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第五十二章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DF5">
              <a:alpha val="50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24199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3C2823"/>
                </a:solidFill>
                <a:latin typeface="Kaiti SC"/>
                <a:ea typeface="Kaiti SC"/>
                <a:cs typeface="Kaiti SC"/>
                <a:sym typeface="Kaiti SC"/>
              </a:rPr>
              <a:t>天下有始，以为天下母。既得其母，以知其子；既知其子，复守其母，没身不殆。塞其兑，闭其门，终身不勤。开其兑，济其事，终身不救。见小曰明，守柔曰强。用其光，复归其明，无遗身殃；是为袭常。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DF5">
              <a:alpha val="50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540000"/>
            <a:ext cx="4699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03C32"/>
                </a:solidFill>
                <a:latin typeface="Zhuque Fangsong"/>
                <a:ea typeface="Zhuque Fangsong"/>
                <a:cs typeface="Zhuque Fangsong"/>
                <a:sym typeface="Zhuque Fangsong"/>
              </a:rPr>
              <a:t>天下万物都有一个开端，这个开端就是万物的母体。认识了母体，就能了解万物；了解了万物，又回归守护母体，终身便不会有危险。堵塞感官的孔窍，关闭欲望的门户，终身都不会疲惫劳顿。若放纵感官，追求纷繁事务，终身都无可救药。能洞察细微之处才叫“明”，能守持柔弱之道才叫“强”。运用智慧的光芒，复归内在的明澈，不给自身留下灾祸，这就是承袭永恒的自然法则。</a:t>
            </a:r>
            <a:endParaRPr lang="en-US" sz="11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第五十三章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4153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>
                <a:solidFill>
                  <a:srgbClr val="422C24"/>
                </a:solidFill>
                <a:latin typeface="Kaiti SC"/>
                <a:ea typeface="Kaiti SC"/>
                <a:cs typeface="Kaiti SC"/>
                <a:sym typeface="Kaiti SC"/>
              </a:rPr>
              <a:t>使我介然有知，行于大道，唯施是畏。大道甚夷，而人好径。朝甚除，田甚芜，仓甚虚；服文采，带利剑，厌饮食，财货有余；是为盗夸。非道也哉！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905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>
                <a:solidFill>
                  <a:srgbClr val="422C24"/>
                </a:solidFill>
                <a:latin typeface="Kaiti SC"/>
                <a:ea typeface="Kaiti SC"/>
                <a:cs typeface="Kaiti SC"/>
                <a:sym typeface="Kaiti SC"/>
              </a:rPr>
              <a:t>假使我稍微有一点认知，行走在大道之上，唯一担心的就是走上邪路。大道本是平坦易行的，世人却偏偏喜欢走那崎岖的小径。看那朝堂修饰得洁净光鲜，而农田却一片荒芜，百姓的粮仓也十分空虚；可有人身着华美的衣饰，佩戴锋利的宝剑，吃腻了珍馐美味，囤积着过剩的财货。这就是所谓的“盗夸”——强盗头子，这实在是违背自然大道的啊！</a:t>
            </a:r>
            <a:endParaRPr lang="en-US" sz="11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第五十四章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29348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500" b="0" i="0" u="none" strike="noStrike" dirty="0">
                <a:solidFill>
                  <a:srgbClr val="423026"/>
                </a:solidFill>
                <a:latin typeface="Kaiti SC"/>
                <a:ea typeface="Kaiti SC"/>
                <a:cs typeface="Kaiti SC"/>
                <a:sym typeface="Kaiti SC"/>
              </a:rPr>
              <a:t>善建者不拔，善抱者不脱，子孙以祭祀不辍。修之于身，其德乃真；修之于家，其德乃余；修之于乡，其德乃长；修之于邦，其德乃丰；修之于天下，其德乃普。故以身观身，以家观家，以乡观乡，以邦观邦，以天下观天下。吾何以知天下然哉？以此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6223000" y="1651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2413000"/>
            <a:ext cx="5207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500" b="0" i="0" u="none" strike="noStrike">
                <a:solidFill>
                  <a:srgbClr val="423026"/>
                </a:solidFill>
                <a:latin typeface="Kaiti SC"/>
                <a:ea typeface="Kaiti SC"/>
                <a:cs typeface="Kaiti SC"/>
                <a:sym typeface="Kaiti SC"/>
              </a:rPr>
              <a:t>善于建立根基的人，其事业坚不可摧；善于坚守信念的人，其本心始终如一，这份精神会让子孙后代铭记传承。将道德修养于自身，品德才会纯真无伪；修养于家庭，家风才会福泽绵长；修养于乡里，民风才会醇厚久长；修养于国家，国力才会富足强盛；修养于天下，恩泽才会遍及众生。所以，用自身的德行去体察他人，用自家的景象去观照别家，用本乡的状况去理解他乡，用本国的治理去推断他国，用天下的视角去洞察天下。我之所以能知晓天下的规律，正是凭借这个道理。</a:t>
            </a:r>
            <a:endParaRPr lang="en-US" sz="11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第五十五章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2357" r="2357"/>
          <a:stretch>
            <a:fillRect/>
          </a:stretch>
        </p:blipFill>
        <p:spPr>
          <a:xfrm>
            <a:off x="762000" y="1778000"/>
            <a:ext cx="3810000" cy="2667000"/>
          </a:xfrm>
          <a:prstGeom prst="roundRect">
            <a:avLst>
              <a:gd name="adj" fmla="val 7142"/>
            </a:avLst>
          </a:prstGeom>
          <a:noFill/>
          <a:ln w="25400" cap="flat" cmpd="sng">
            <a:solidFill>
              <a:srgbClr val="8C4B3D">
                <a:alpha val="4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8C4B3D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699000"/>
            <a:ext cx="381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1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“含德之厚，比于赤子。</a:t>
            </a:r>
            <a:br>
              <a:rPr lang="en-US" sz="1600" b="0" i="1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600" b="0" i="1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终日号而不嗄，和之至也。”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53000" y="1778000"/>
            <a:ext cx="6604000" cy="19685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143500" y="1905000"/>
            <a:ext cx="6223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  <a:p>
            <a:pPr marL="0" indent="0" algn="just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含德之厚，比于赤子。毒虫不螫，猛兽不据，攫鸟不搏。骨弱筋柔而握固。未知牝牡之合而朘作，精之至也。终日号而不嗄，和之至也。知和曰常，知常曰明。益生曰祥，心使气曰强。物壮则老，谓之不道，不道早已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953000" y="4000500"/>
            <a:ext cx="6604000" cy="22225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143500" y="4127500"/>
            <a:ext cx="62230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  <a:p>
            <a:pPr marL="0" indent="0" algn="just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道德涵养深厚的人，如刚出生的婴儿般纯粹。毒虫不侵，猛兽不伤，凶鸟不袭。其筋骨柔弱却握拳牢固，不知情欲却精气充沛，终日啼哭而嗓音不哑，此乃极致的和谐。认识到这种和谐是常态，是为明达。贪求额外生机是不祥，用心智驱使精气是逞强。事物过于强盛便会走向衰老，这不合于道，终将快速消亡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第五十六章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27408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4A3A31"/>
                </a:solidFill>
                <a:latin typeface="Songti SC"/>
                <a:ea typeface="Songti SC"/>
                <a:cs typeface="Songti SC"/>
                <a:sym typeface="Songti SC"/>
              </a:rPr>
              <a:t>知者不言，言者不知。塞其兑，闭其门，挫其锐，解其纷，和其光，同其尘，是谓玄同。故不可得而亲，不可得而疏；不可得而利，不可得而害；不可得而贵，不可得而贱。故为天下贵。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6223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2413000"/>
            <a:ext cx="5207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4A3A31"/>
                </a:solidFill>
                <a:latin typeface="Songti SC"/>
                <a:ea typeface="Songti SC"/>
                <a:cs typeface="Songti SC"/>
                <a:sym typeface="Songti SC"/>
              </a:rPr>
              <a:t>真正有智慧的人不随便说话，随便说话的人没有真正的智慧。堵塞感官的通道，关闭欲望的门户，消磨锐气，化解纷争，调和光芒，混同尘埃，这就叫做与道融为一体。所以，这样的人无法被亲近，也无法被疏远；无法被利益诱惑，也无法被祸害；无法被尊贵，也无法被卑贱。所以他才是天下最尊贵的。</a:t>
            </a:r>
            <a:endParaRPr lang="en-US" sz="11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第五十七章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AF6EB">
              <a:alpha val="7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23668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332620"/>
                </a:solidFill>
                <a:latin typeface="Kaiti SC"/>
                <a:ea typeface="Kaiti SC"/>
                <a:cs typeface="Kaiti SC"/>
                <a:sym typeface="Kaiti SC"/>
              </a:rPr>
              <a:t>以正治国，以奇用兵，以无事取天下。吾何以知其然哉？以此：天下多忌讳，而民弥贫；人多利器，国家滋昏；人多伎巧，奇物滋起；法令滋彰，盗贼多有。故圣人云：“我无为，而民自化；我好静，而民自正；我无事，而民自富；我无欲，而民自朴。”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AF6EB">
              <a:alpha val="7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68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670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32620"/>
                </a:solidFill>
                <a:latin typeface="Kaiti SC"/>
                <a:ea typeface="Kaiti SC"/>
                <a:cs typeface="Kaiti SC"/>
                <a:sym typeface="Kaiti SC"/>
              </a:rPr>
              <a:t>用正道治国，用奇谋用兵，以清静无为之道治理天下。究其根源：天下的禁令越多，百姓就越贫穷；人们的利器越多，国家就越混乱；人们的技巧越多，邪事就越滋生；法令越严苛，盗贼反而越多。故而圣人说：“我无为而治，百姓自然向善；我守静持正，百姓自然端正；我不生事端，百姓自然富足；我清心寡欲，百姓自然淳朴。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287000" y="5969000"/>
            <a:ext cx="1270000" cy="406400"/>
          </a:xfrm>
          <a:prstGeom prst="roundRect">
            <a:avLst>
              <a:gd name="adj" fmla="val 0"/>
            </a:avLst>
          </a:prstGeom>
          <a:solidFill>
            <a:srgbClr val="8C4B3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287000" y="5969000"/>
            <a:ext cx="127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Kaiti SC"/>
                <a:ea typeface="Kaiti SC"/>
                <a:cs typeface="Kaiti SC"/>
                <a:sym typeface="Kaiti SC"/>
              </a:rPr>
              <a:t>道法自然</a:t>
            </a:r>
            <a:endParaRPr lang="en-US" sz="11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第五十八章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2ECE1">
              <a:alpha val="70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24407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>
                <a:solidFill>
                  <a:srgbClr val="442B24"/>
                </a:solidFill>
                <a:latin typeface="Kaiti SC"/>
                <a:ea typeface="Kaiti SC"/>
                <a:cs typeface="Kaiti SC"/>
                <a:sym typeface="Kaiti SC"/>
              </a:rPr>
              <a:t>其政闷闷，其民淳淳；其政察察，其民缺缺。祸兮福之所倚，福兮祸之所伏。孰知其极？其无正也。正复为奇，善复为妖。人之迷，其日固久。是以圣人方而不割，廉而不刿，直而不肆，光而不耀。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145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2ECE1">
              <a:alpha val="70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68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670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>
                <a:solidFill>
                  <a:srgbClr val="442B24"/>
                </a:solidFill>
                <a:latin typeface="Kaiti SC"/>
                <a:ea typeface="Kaiti SC"/>
                <a:cs typeface="Kaiti SC"/>
                <a:sym typeface="Kaiti SC"/>
              </a:rPr>
              <a:t>政治宽厚，百姓就淳朴；政治严苛，百姓就狡黠。灾祸与幸福彼此相依，福祸之间并无绝对界限，谁能知晓其终极？世事本无常形，正可变邪，善可变恶，世人对此的迷惑由来已久。因此，圣人立身方正却不生硬，有棱角而不伤人，直率而不放肆，拥有光芒却不张扬炫耀，以平和自然之心处世。</a:t>
            </a:r>
            <a:endParaRPr lang="en-US" sz="11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第五十九章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4707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5B392F"/>
                </a:solidFill>
                <a:latin typeface="Kaiti SC"/>
                <a:ea typeface="Kaiti SC"/>
                <a:cs typeface="Kaiti SC"/>
                <a:sym typeface="Kaiti SC"/>
              </a:rPr>
              <a:t>治人事天，莫若啬。夫唯啬，是谓早服；早服谓之重积德；重积德则无不克；无不克则莫知其极；莫知其极，可以有国；有国之母，可以长久；是谓深根固柢，长生久视之道。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5B392F"/>
                </a:solidFill>
                <a:latin typeface="Kaiti SC"/>
                <a:ea typeface="Kaiti SC"/>
                <a:cs typeface="Kaiti SC"/>
                <a:sym typeface="Kaiti SC"/>
              </a:rPr>
              <a:t>治理百姓与养护身心，最好的方法莫过于“啬”——收敛、节俭。懂得节俭，才能尽早顺应自然之道；顺应大道，便能不断积累德行；德行深厚则无所不胜；力量无穷则难以估量；具备了这种不可估量的力量，才能担负起治理国家的重任；掌握了治国的根本，才能实现长治久安。这正是根深蒂固、长久存续的根本法则。</a:t>
            </a:r>
            <a:endParaRPr lang="en-US" sz="11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第六十章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9F5EE">
              <a:alpha val="5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243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422E26"/>
                </a:solidFill>
                <a:latin typeface="Kaiti SC"/>
                <a:ea typeface="Kaiti SC"/>
                <a:cs typeface="Kaiti SC"/>
                <a:sym typeface="Kaiti SC"/>
              </a:rPr>
              <a:t>治大国，若烹小鲜。以道莅天下，其鬼不神；非其鬼不神，其神不伤人；非其神不伤人，圣人亦不伤人。夫两不相伤，故德交归焉</a:t>
            </a:r>
            <a:r>
              <a:rPr lang="en-US" sz="1600" b="0" i="0" u="none" strike="noStrike" dirty="0">
                <a:solidFill>
                  <a:srgbClr val="422E26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9F5EE">
              <a:alpha val="5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540000"/>
            <a:ext cx="4699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55372D"/>
                </a:solidFill>
                <a:latin typeface="Kaiti SC"/>
                <a:ea typeface="Kaiti SC"/>
                <a:cs typeface="Kaiti SC"/>
                <a:sym typeface="Kaiti SC"/>
              </a:rPr>
              <a:t>治理大国，就像煎小鱼一样，切忌过度翻搅。用“道”的原则来治理天下，那么鬼神就不会起作用；并非鬼神真的失去了神力，而是它们的神力不会伤害人；也并非它们不想伤人，而是圣人无为而治，从不伤害百姓。既然鬼神和圣人都不伤害人，那么道德与福祉自然就会汇聚到百姓身上。</a:t>
            </a:r>
            <a:endParaRPr lang="en-US" sz="11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第六十一章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22906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33241E"/>
                </a:solidFill>
                <a:latin typeface="Kaiti SC"/>
                <a:ea typeface="Kaiti SC"/>
                <a:cs typeface="Kaiti SC"/>
                <a:sym typeface="Kaiti SC"/>
              </a:rPr>
              <a:t>大国者下流，天下之牝，天下之交也。牝常以静胜牡，以静为下。故大国以下小国，则取小国；小国以下大国，则取大国。故或下以取，或下而取。大国不过欲兼畜人，小国不过欲入事人。夫两者各得所欲，大者宜为下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540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3241E"/>
                </a:solidFill>
                <a:latin typeface="Kaiti SC"/>
                <a:ea typeface="Kaiti SC"/>
                <a:cs typeface="Kaiti SC"/>
                <a:sym typeface="Kaiti SC"/>
              </a:rPr>
              <a:t>大国要像居于江河的下游，成为天下的雌性，成为天下交汇的地方。雌性常以安静战胜雄性，因为安静处于下位。所以，大国对小国谦下，就能收服小国；小国对大国谦下，就能被大国接纳。大国不过是想兼并容纳小国，小国不过是想依附侍奉大国。两者都能实现自己的愿望，而大国更应该保持谦下的姿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905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8C4B3D">
                    <a:alpha val="85098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谦下包容，方能天下归心 ——</a:t>
            </a:r>
            <a:endParaRPr lang="en-US" sz="11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第六十二章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9F4EB">
              <a:alpha val="7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23183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3C2823"/>
                </a:solidFill>
                <a:latin typeface="Kaiti SC"/>
                <a:ea typeface="Kaiti SC"/>
                <a:cs typeface="Kaiti SC"/>
                <a:sym typeface="Kaiti SC"/>
              </a:rPr>
              <a:t>道者万物之奥。善人之宝，不善人之所保。美言可以市尊，美行可以加人。人之不善，何弃之有？故立天子，置三公，虽有拱璧以先驷马，不如坐进此道。古之所以贵此道者何？不曰：求以得，有罪以免邪？故为天下贵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9F4EB">
              <a:alpha val="7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5400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503C32"/>
                </a:solidFill>
                <a:latin typeface="Kaiti SC"/>
                <a:ea typeface="Kaiti SC"/>
                <a:cs typeface="Kaiti SC"/>
                <a:sym typeface="Kaiti SC"/>
              </a:rPr>
              <a:t>道是万物的根本与庇护所，它是善人的珍宝，也是不善之人的保护伞。美好的言辞能赢得他人的尊重，美好的德行能感化众人。对于不善之人，为何要抛弃他们呢？所以，纵使拥立天子、设置三公，以价值连城的玉璧与骏马为先导，也不如潜心体悟此道。古人为何如此珍视道？不正是因为有求必应、可赎罪过吗？这正是道被天下推崇的缘由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922000" y="5842000"/>
            <a:ext cx="711200" cy="711200"/>
          </a:xfrm>
          <a:prstGeom prst="roundRect">
            <a:avLst>
              <a:gd name="adj" fmla="val 0"/>
            </a:avLst>
          </a:prstGeom>
          <a:solidFill>
            <a:srgbClr val="A52A2A">
              <a:alpha val="10000"/>
            </a:srgbClr>
          </a:solidFill>
          <a:ln w="25400" cap="flat" cmpd="sng">
            <a:solidFill>
              <a:srgbClr val="A52A2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922000" y="5842000"/>
            <a:ext cx="711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A52A2A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道</a:t>
            </a:r>
            <a:endParaRPr lang="en-US" sz="11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第六十三章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213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331A0F"/>
                </a:solidFill>
                <a:latin typeface="Kaiti SC"/>
                <a:ea typeface="Kaiti SC"/>
                <a:cs typeface="Kaiti SC"/>
                <a:sym typeface="Kaiti SC"/>
              </a:rPr>
              <a:t>为无为，事无事，味无味。大小多少，报怨以德。图难于其易，为大于其细；天下难事，必作于易；天下大事，必作于细。是以圣人终不为大，故能成其大。夫轻诺必寡信，多易必多难。是以圣人犹难之，故终无难矣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5400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31A0F"/>
                </a:solidFill>
                <a:latin typeface="Kaiti SC"/>
                <a:ea typeface="Kaiti SC"/>
                <a:cs typeface="Kaiti SC"/>
                <a:sym typeface="Kaiti SC"/>
              </a:rPr>
              <a:t>以无为的心态去行动，以平常心去做事，以清淡心去品味。把大事看作小事，把多视为少，用恩德去回应怨恨。解决困难要从最容易的地方入手，成就大事要从最细微的地方做起；天下的难事，必定始于容易；天下的大事，必定始于细微。因此，圣人始终不自以为大，所以才能成就其伟大。轻易许诺的人必定缺少信用，把事情看得太容易的人必定会遇到更多困难。因此，圣人总是把事情看得很难，所以最终反而没有困难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972800" y="5842000"/>
            <a:ext cx="711200" cy="711200"/>
          </a:xfrm>
          <a:prstGeom prst="roundRect">
            <a:avLst>
              <a:gd name="adj" fmla="val 0"/>
            </a:avLst>
          </a:prstGeom>
          <a:solidFill>
            <a:srgbClr val="A8383B">
              <a:alpha val="12000"/>
            </a:srgbClr>
          </a:solidFill>
          <a:ln w="12700" cap="flat" cmpd="sng">
            <a:solidFill>
              <a:srgbClr val="A8383B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972800" y="5842000"/>
            <a:ext cx="711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8383B"/>
                </a:solidFill>
                <a:latin typeface="Kaiti SC"/>
                <a:ea typeface="Kaiti SC"/>
                <a:cs typeface="Kaiti SC"/>
                <a:sym typeface="Kaiti SC"/>
              </a:rPr>
              <a:t>道</a:t>
            </a:r>
            <a:br>
              <a:rPr lang="en-US" sz="1600" b="1" i="0" u="none" strike="noStrike">
                <a:solidFill>
                  <a:srgbClr val="A8383B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600" b="1" i="0" u="none" strike="noStrike">
                <a:solidFill>
                  <a:srgbClr val="A8383B"/>
                </a:solidFill>
                <a:latin typeface="Kaiti SC"/>
                <a:ea typeface="Kaiti SC"/>
                <a:cs typeface="Kaiti SC"/>
                <a:sym typeface="Kaiti SC"/>
              </a:rPr>
              <a:t>常</a:t>
            </a:r>
            <a:endParaRPr lang="en-US" sz="11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第六十四章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 err="1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其安易持，其未兆易谋。其脆易泮，其微易散。为之于未有，治之于未乱</a:t>
            </a:r>
            <a:r>
              <a:rPr lang="en-US" sz="15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br>
              <a:rPr lang="en-US" sz="15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500" b="0" i="0" u="none" strike="noStrike" dirty="0" err="1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合抱之木，生于毫末；九层之台，起于累土；千里之行，始于足下</a:t>
            </a:r>
            <a:r>
              <a:rPr lang="en-US" sz="15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br>
              <a:rPr lang="en-US" sz="15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500" b="0" i="0" u="none" strike="noStrike" dirty="0" err="1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为者败之，执者失之。是以圣人无为故无败，无执故无失</a:t>
            </a:r>
            <a:r>
              <a:rPr lang="en-US" sz="15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br>
              <a:rPr lang="en-US" sz="15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500" b="0" i="0" u="none" strike="noStrike" dirty="0" err="1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民之从事，常于几成而败之。慎终如始，则无败事</a:t>
            </a:r>
            <a:r>
              <a:rPr lang="en-US" sz="15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br>
              <a:rPr lang="en-US" sz="15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500" b="0" i="0" u="none" strike="noStrike" dirty="0" err="1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是以圣人欲不欲，不贵难得之货；学不学，复众人之所过，以辅万物之自然而不敢为</a:t>
            </a:r>
            <a:r>
              <a:rPr lang="en-US" sz="15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6223000" y="1651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2286000"/>
            <a:ext cx="5207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局面安稳时容易保持，事未萌芽时容易谋划；事物脆弱时易消解，细微时易离散。要在问题发生前就着手处理，在混乱出现前就加以整治。</a:t>
            </a:r>
            <a:br>
              <a:rPr lang="en-US" sz="1500" b="0" i="0" u="none" strike="noStrike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500" b="0" i="0" u="none" strike="noStrike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合抱的大树源于细小的萌芽，九层的高台起于每一堆泥土，千里的远行始于脚下第一步。刻意强求者终将失败，执意把持者终将失去。因此圣人顺应自然而不妄为，故而不会失败；不执意把持，故而不会失去。</a:t>
            </a:r>
            <a:br>
              <a:rPr lang="en-US" sz="1500" b="0" i="0" u="none" strike="noStrike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500" b="0" i="0" u="none" strike="noStrike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世人做事，常在功败垂成时出错。若能像开始时那样谨慎对待结尾，便不会有失败之事。圣人追求常人所不追求的，不看重稀世珍宝；学习常人所不学的，弥补众人的过失，辅助万物顺应本性发展，而不敢妄加干预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287000" y="5969000"/>
            <a:ext cx="1270000" cy="406400"/>
          </a:xfrm>
          <a:prstGeom prst="roundRect">
            <a:avLst>
              <a:gd name="adj" fmla="val 0"/>
            </a:avLst>
          </a:prstGeom>
          <a:solidFill>
            <a:srgbClr val="8C4B3D">
              <a:alpha val="10000"/>
            </a:srgbClr>
          </a:solidFill>
          <a:ln w="12700" cap="flat" cmpd="sng">
            <a:solidFill>
              <a:srgbClr val="8C4B3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道法自然</a:t>
            </a:r>
            <a:endParaRPr lang="en-US" sz="11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第六十五章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1197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古之善为道者，非以明民，将以愚之。民之难治，以其智多。故以智治国，国之贼；不以智治国，国之福。知此两者亦稽式。常知稽式，是谓玄德。玄德深矣，远矣，与物反矣，然后乃至大顺。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古代善于践行大道的人，并非要使百姓变得机巧聪慧，而是让他们回归质朴纯真。百姓之所以难以治理，根源在于心机巧诈太多。所以，用智巧去治理国家，是国家的祸患；不以智巧治国，才是国家的福祉。懂得这两种治国方式的差别，便是治国的根本法则。时刻恪守这一法则，就是深奥玄妙的“德”。这种玄德深邃而悠远，看似与万物表象相悖，最终却能让世间万物达到自然顺遂的和谐境界。</a:t>
            </a:r>
            <a:endParaRPr lang="en-US" sz="11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第六十六章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2EBE1">
              <a:alpha val="6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03500"/>
            <a:ext cx="4699000" cy="21901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>
                <a:solidFill>
                  <a:srgbClr val="33241E"/>
                </a:solidFill>
                <a:latin typeface="Kaiti SC"/>
                <a:ea typeface="Kaiti SC"/>
                <a:cs typeface="Kaiti SC"/>
                <a:sym typeface="Kaiti SC"/>
              </a:rPr>
              <a:t>江海之所以能为百谷王者，以其善下之，故能为百谷王。是以圣人欲上民，必以言下之；欲先民，必以身后之。是以圣人处上而民不重，处前而民不害。是以天下乐推而不厌。以其不争，故天下莫能与之争。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2EBE1">
              <a:alpha val="65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035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>
                <a:solidFill>
                  <a:srgbClr val="443228"/>
                </a:solidFill>
                <a:latin typeface="Kaiti SC"/>
                <a:ea typeface="Kaiti SC"/>
                <a:cs typeface="Kaiti SC"/>
                <a:sym typeface="Kaiti SC"/>
              </a:rPr>
              <a:t>江海之所以能成为百川汇聚的王者，是因为它善于处在低下的位置。因此，圣人想要居于百姓之上，必须用言语对百姓表示谦下；想要走在百姓前面，必须把自己放在百姓后面。所以，圣人居于上位而百姓不感到负担，走在前面而百姓不感到受害。因此，天下人都乐意推举他而不厌恶他。正因为他不与人相争，所以天下没有人能和他相争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0" y="5969000"/>
            <a:ext cx="1270000" cy="457200"/>
          </a:xfrm>
          <a:prstGeom prst="roundRect">
            <a:avLst>
              <a:gd name="adj" fmla="val 0"/>
            </a:avLst>
          </a:prstGeom>
          <a:solidFill>
            <a:srgbClr val="8C4B3D">
              <a:alpha val="10000"/>
            </a:srgbClr>
          </a:solidFill>
          <a:ln w="12700" cap="flat" cmpd="sng">
            <a:solidFill>
              <a:srgbClr val="8C4B3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0" y="5969000"/>
            <a:ext cx="127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不争而胜</a:t>
            </a:r>
            <a:endParaRPr lang="en-US" sz="11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第六十七章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25400"/>
          </a:xfrm>
          <a:prstGeom prst="roundRect">
            <a:avLst>
              <a:gd name="adj" fmla="val 0"/>
            </a:avLst>
          </a:prstGeom>
          <a:solidFill>
            <a:srgbClr val="8C4B3D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 dirty="0">
                <a:solidFill>
                  <a:srgbClr val="332D28"/>
                </a:solidFill>
                <a:latin typeface="Zhuque Fangsong"/>
                <a:ea typeface="Zhuque Fangsong"/>
                <a:cs typeface="Zhuque Fangsong"/>
                <a:sym typeface="Zhuque Fangsong"/>
              </a:rPr>
              <a:t>天下皆谓我道大，似不肖。夫唯大，故似不肖。若肖，久矣其细也夫！我有三宝，持而保之：一曰慈，二曰俭，三曰不敢为天下先。慈故能勇；俭故能广；不敢为天下先，故能成器长。今舍慈且勇；舍俭且广；舍后且先；死矣！夫慈，以战则胜，以守则固。天将救之，以慈卫之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159000"/>
            <a:ext cx="5207000" cy="25400"/>
          </a:xfrm>
          <a:prstGeom prst="roundRect">
            <a:avLst>
              <a:gd name="adj" fmla="val 0"/>
            </a:avLst>
          </a:prstGeom>
          <a:solidFill>
            <a:srgbClr val="8C4B3D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23000" y="2413000"/>
            <a:ext cx="5207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32D28"/>
                </a:solidFill>
                <a:latin typeface="Zhuque Fangsong"/>
                <a:ea typeface="Zhuque Fangsong"/>
                <a:cs typeface="Zhuque Fangsong"/>
                <a:sym typeface="Zhuque Fangsong"/>
              </a:rPr>
              <a:t>天下人都说我的道太大了，好像什么都不像。正因为它大，所以才什么都不像。如果它像什么，早就变得渺小了！我有三件宝贝，一直保持着：第一件是慈爱，第二件是节俭，第三件是不敢走在天下人的前面。慈爱所以能勇敢；节俭所以能宽广；不敢走在天下人的前面，所以能成为众人的首领。如今若舍弃慈爱去求勇，舍节俭去求广，舍退让去争先，便会走向灭亡！心怀慈爱，出战则胜，防守则固。上天若要拯救谁，必会以慈爱护佑他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715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8C4B3D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905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8C4B3D">
                    <a:alpha val="70196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三宝者，慈、俭、不敢为天下先，乃立身之本，治国之基 ——</a:t>
            </a:r>
            <a:endParaRPr lang="en-US" sz="11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第六十八章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857500"/>
            <a:ext cx="4699000" cy="17514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332924"/>
                </a:solidFill>
                <a:latin typeface="Kaiti SC"/>
                <a:ea typeface="Kaiti SC"/>
                <a:cs typeface="Kaiti SC"/>
                <a:sym typeface="Kaiti SC"/>
              </a:rPr>
              <a:t>善为士者，不武；善战者，不怒；善胜敌者，不与；善用人者，为之下。是谓不争之德，是谓用人之力，是谓配天古之极</a:t>
            </a:r>
            <a:r>
              <a:rPr lang="en-US" sz="1600" b="0" i="0" u="none" strike="noStrike" dirty="0">
                <a:solidFill>
                  <a:srgbClr val="332924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905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1590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857500"/>
            <a:ext cx="4699000" cy="247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463732"/>
                </a:solidFill>
                <a:latin typeface="Kaiti SC"/>
                <a:ea typeface="Kaiti SC"/>
                <a:cs typeface="Kaiti SC"/>
                <a:sym typeface="Kaiti SC"/>
              </a:rPr>
              <a:t>善于做将帅的人，不崇尚武力；善于打仗的人，不轻易发怒；善于战胜敌人的人，不与敌人正面交锋；善于用人的人，对人谦下。这叫做不争的德行，这叫做运用别人的力量，这叫做符合天道的最高准则。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842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8C4B3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603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4B3D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不争，是为了更好地赢得人心与天下 ——</a:t>
            </a:r>
            <a:endParaRPr lang="en-US" sz="11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第六十九章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2EBE1">
              <a:alpha val="7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2398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332621"/>
                </a:solidFill>
                <a:latin typeface="Kaiti SC"/>
                <a:ea typeface="Kaiti SC"/>
                <a:cs typeface="Kaiti SC"/>
                <a:sym typeface="Kaiti SC"/>
              </a:rPr>
              <a:t>用兵有言：“吾不敢为主，而为客；不敢进寸，而退尺。”是谓行无行；攘无臂；扔无敌；执无兵。祸莫大于轻敌，轻敌几丧吾宝。故抗兵相若，哀者胜矣。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2EBE1">
              <a:alpha val="7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32621"/>
                </a:solidFill>
                <a:latin typeface="Songti SC"/>
                <a:ea typeface="Songti SC"/>
                <a:cs typeface="Songti SC"/>
                <a:sym typeface="Songti SC"/>
              </a:rPr>
              <a:t>用兵的人说过：“我不敢主动进攻，而采取防守；不敢前进一寸，而后退一尺。”这叫做摆开阵势却像没有阵势；举起手臂却像没有手臂；面对敌人却像没有敌人；手持兵器却像没有兵器。最大的祸患莫过于轻视敌人，轻视敌人几乎会丧失我的立身之宝。所以，当两军实力相当时，心怀悲悯、懂得珍惜的一方，往往能取得最终的胜利。</a:t>
            </a:r>
            <a:endParaRPr lang="en-US" sz="11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第七十章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9F1E5">
              <a:alpha val="7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18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33221C"/>
                </a:solidFill>
                <a:latin typeface="Kaiti SC"/>
                <a:ea typeface="Kaiti SC"/>
                <a:cs typeface="Kaiti SC"/>
                <a:sym typeface="Kaiti SC"/>
              </a:rPr>
              <a:t>吾言甚易知，甚易行。天下莫能知，莫能行。言有宗，事有君。夫唯无知，是以不我知。知我者希，则我者贵。是以圣人被褐而怀玉</a:t>
            </a:r>
            <a:r>
              <a:rPr lang="en-US" sz="1600" b="0" i="0" u="none" strike="noStrike" dirty="0">
                <a:solidFill>
                  <a:srgbClr val="33221C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9F1E5">
              <a:alpha val="7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C2823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的话非常容易理解，也极易实行，可天下却无人能懂、无人能践行。言论有其根本宗旨，行事有其核心原则。正因为人们缺乏真知，所以才不理解我。理解我的人寥寥无几，能效法我的人就更为珍贵。因此，圣人往往外表朴素，如同穿着粗布衣衫，内心却蕴藏着如美玉般宝贵的智慧与品德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972800" y="5715000"/>
            <a:ext cx="711200" cy="711200"/>
          </a:xfrm>
          <a:prstGeom prst="roundRect">
            <a:avLst>
              <a:gd name="adj" fmla="val 0"/>
            </a:avLst>
          </a:prstGeom>
          <a:solidFill>
            <a:srgbClr val="B22222">
              <a:alpha val="12000"/>
            </a:srgbClr>
          </a:solidFill>
          <a:ln w="12700" cap="flat" cmpd="sng">
            <a:solidFill>
              <a:srgbClr val="B22222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972800" y="5715000"/>
            <a:ext cx="711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22222">
                    <a:alpha val="70196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道德经</a:t>
            </a:r>
            <a:endParaRPr lang="en-US" sz="11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第七十一章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149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3D2620"/>
                </a:solidFill>
                <a:latin typeface="Kaiti SC"/>
                <a:ea typeface="Kaiti SC"/>
                <a:cs typeface="Kaiti SC"/>
                <a:sym typeface="Kaiti SC"/>
              </a:rPr>
              <a:t>知不知，上；不知知，病。夫唯病病，是以不病。圣人不病，以其病病，是以不病</a:t>
            </a:r>
            <a:r>
              <a:rPr lang="en-US" sz="1600" b="0" i="0" u="none" strike="noStrike" dirty="0">
                <a:solidFill>
                  <a:srgbClr val="3D2620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670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03228"/>
                </a:solidFill>
                <a:latin typeface="Songti SC"/>
                <a:ea typeface="Songti SC"/>
                <a:cs typeface="Songti SC"/>
                <a:sym typeface="Songti SC"/>
              </a:rPr>
              <a:t>知道自己有所不知，是上等的智慧；不知道却自以为知道，是一种弊病。正因为把弊病当作弊病，所以才没有弊病。圣人没有弊病，因为他把弊病当作弊病，所以才没有弊病。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8C4B3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5524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「 自知之明，是超越愚昧的起点；正视不足，方为圣贤之道。」</a:t>
            </a:r>
            <a:endParaRPr lang="en-US" sz="11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第七十二章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8DC">
              <a:alpha val="50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19881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 dirty="0" err="1">
                <a:solidFill>
                  <a:srgbClr val="333333"/>
                </a:solidFill>
                <a:latin typeface="Kaiti SC"/>
                <a:ea typeface="Kaiti SC"/>
                <a:cs typeface="Kaiti SC"/>
                <a:sym typeface="Kaiti SC"/>
              </a:rPr>
              <a:t>民不畏威，则大威至。无狎其所居，无厌其所生。夫唯不厌，是以不厌。是以圣人自知不自见；自爱不自贵。故去彼取此</a:t>
            </a:r>
            <a:r>
              <a:rPr lang="en-US" sz="1700" b="0" i="0" u="none" strike="noStrike" dirty="0">
                <a:solidFill>
                  <a:srgbClr val="333333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8DC">
              <a:alpha val="50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670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C3C3C"/>
                </a:solidFill>
                <a:latin typeface="Kaiti SC"/>
                <a:ea typeface="Kaiti SC"/>
                <a:cs typeface="Kaiti SC"/>
                <a:sym typeface="Kaiti SC"/>
              </a:rPr>
              <a:t>当百姓不再畏惧统治者的威压时，真正的危机便已悄然降临。不要逼迫百姓背井离乡，也不要压榨他们赖以生存的根基。唯有不施加苛政，百姓才不会心生厌弃。因此，有道的圣人有自知之明而不自我炫耀，懂得自爱而不妄自尊贵。所以，应当舍弃虚荣与骄矜，坚守自知与自爱的本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0" y="5715000"/>
            <a:ext cx="889000" cy="889000"/>
          </a:xfrm>
          <a:prstGeom prst="roundRect">
            <a:avLst>
              <a:gd name="adj" fmla="val 0"/>
            </a:avLst>
          </a:prstGeom>
          <a:solidFill>
            <a:srgbClr val="8C4B3D">
              <a:alpha val="15000"/>
            </a:srgbClr>
          </a:solidFill>
          <a:ln w="12700" cap="flat" cmpd="sng">
            <a:solidFill>
              <a:srgbClr val="8C4B3D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795000" y="571500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守柔</a:t>
            </a:r>
            <a:br>
              <a:rPr lang="en-US" sz="14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4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处下</a:t>
            </a:r>
            <a:endParaRPr lang="en-US" sz="11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第七十三章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6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3C2823"/>
                </a:solidFill>
                <a:latin typeface="Kaiti SC"/>
                <a:ea typeface="Kaiti SC"/>
                <a:cs typeface="Kaiti SC"/>
                <a:sym typeface="Kaiti SC"/>
              </a:rPr>
              <a:t>勇于敢则杀，勇于不敢则活。此两者，或利或害。天之所恶，孰知其故？天之道，不争而善胜，不言而善应，不召而自来，繟然而善谋。天网恢恢，疏而不失。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6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67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503C32"/>
                </a:solidFill>
                <a:latin typeface="Songti SC"/>
                <a:ea typeface="Songti SC"/>
                <a:cs typeface="Songti SC"/>
                <a:sym typeface="Songti SC"/>
              </a:rPr>
              <a:t>勇于逞强就会丧命，勇于柔弱就能存活。这两种勇，一者得利一者招害。上天所厌恶的，谁能知晓其中缘由？自然的法则，是不争斗而善于取胜，不言语而善于回应，不召唤而自动到来，从容无为而善于谋划。天道如网，广阔无边，虽看似稀疏，却不会有丝毫遗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4B3D">
                    <a:alpha val="70196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顺应天道，守柔曰强</a:t>
            </a:r>
            <a:endParaRPr lang="en-US" sz="11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第七十四章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23391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 dirty="0">
                <a:solidFill>
                  <a:srgbClr val="3C2823"/>
                </a:solidFill>
                <a:latin typeface="Kaiti SC"/>
                <a:ea typeface="Kaiti SC"/>
                <a:cs typeface="Kaiti SC"/>
                <a:sym typeface="Kaiti SC"/>
              </a:rPr>
              <a:t>民不畏死，奈何以死惧之？若使民常畏死，而为奇者，吾得执而杀之，孰敢？常有司杀者杀。夫代司杀者杀，是谓代大匠斫，夫代大匠斫者，希有不伤其手矣。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68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670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500" b="0" i="0" u="none" strike="noStrike">
                <a:solidFill>
                  <a:srgbClr val="503C32"/>
                </a:solidFill>
                <a:latin typeface="Kaiti SC"/>
                <a:ea typeface="Kaiti SC"/>
                <a:cs typeface="Kaiti SC"/>
                <a:sym typeface="Kaiti SC"/>
              </a:rPr>
              <a:t>百姓不畏惧死亡，为何要用死亡来恐吓他们呢？如果能让百姓总是畏惧死亡，那么对于那些作恶的人，我就可以抓来杀掉，谁还敢作恶呢？本来就有专管杀人的人去执行杀戮。代替专管杀人的人去杀人，就像代替高明的木匠去砍木头，这样做的人，很少有不伤到自己手的。这警示统治者不可滥用刑罚，否则终将自食恶果。</a:t>
            </a:r>
            <a:endParaRPr lang="en-US" sz="11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第七十五章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699000" cy="188768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332923"/>
                </a:solidFill>
                <a:latin typeface="Songti SC"/>
                <a:ea typeface="Songti SC"/>
                <a:cs typeface="Songti SC"/>
                <a:sym typeface="Songti SC"/>
              </a:rPr>
              <a:t>民之饥，以其上食税之多，是以饥。民之难治，以其上之有为，是以难治。民之轻死，以其上求生之厚，是以轻死。夫唯无以生为者，是贤于贵生。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8415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305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B372D"/>
                </a:solidFill>
                <a:latin typeface="Songti SC"/>
                <a:ea typeface="Songti SC"/>
                <a:cs typeface="Songti SC"/>
                <a:sym typeface="Songti SC"/>
              </a:rPr>
              <a:t>百姓之所以饥饿，是因为统治者征收的赋税太多，所以才饥饿。百姓之所以难以治理，是因为统治者的过多作为，所以才难以治理。百姓之所以轻视死亡，是因为统治者追求过度的生活享受，所以才轻视死亡。只有那些不把生命看得太重的人，才比过分看重生命的人更贤明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845800" y="5842000"/>
            <a:ext cx="711200" cy="711200"/>
          </a:xfrm>
          <a:prstGeom prst="roundRect">
            <a:avLst>
              <a:gd name="adj" fmla="val 0"/>
            </a:avLst>
          </a:prstGeom>
          <a:solidFill>
            <a:srgbClr val="A8383B">
              <a:alpha val="12000"/>
            </a:srgbClr>
          </a:solidFill>
          <a:ln w="12700" cap="flat" cmpd="sng">
            <a:solidFill>
              <a:srgbClr val="A8383B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845800" y="5842000"/>
            <a:ext cx="711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defRPr/>
            </a:pPr>
            <a:r>
              <a:rPr lang="en-US" sz="1400" b="1" i="0" u="none" strike="noStrike">
                <a:solidFill>
                  <a:srgbClr val="A8383B"/>
                </a:solidFill>
                <a:latin typeface="Kaiti SC"/>
                <a:ea typeface="Kaiti SC"/>
                <a:cs typeface="Kaiti SC"/>
                <a:sym typeface="Kaiti SC"/>
              </a:rPr>
              <a:t>道</a:t>
            </a:r>
            <a:br>
              <a:rPr lang="en-US" sz="1400" b="1" i="0" u="none" strike="noStrike">
                <a:solidFill>
                  <a:srgbClr val="A8383B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400" b="1" i="0" u="none" strike="noStrike">
                <a:solidFill>
                  <a:srgbClr val="A8383B"/>
                </a:solidFill>
                <a:latin typeface="Kaiti SC"/>
                <a:ea typeface="Kaiti SC"/>
                <a:cs typeface="Kaiti SC"/>
                <a:sym typeface="Kaiti SC"/>
              </a:rPr>
              <a:t>德</a:t>
            </a:r>
            <a:br>
              <a:rPr lang="en-US" sz="1400" b="1" i="0" u="none" strike="noStrike">
                <a:solidFill>
                  <a:srgbClr val="A8383B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400" b="1" i="0" u="none" strike="noStrike">
                <a:solidFill>
                  <a:srgbClr val="A8383B"/>
                </a:solidFill>
                <a:latin typeface="Kaiti SC"/>
                <a:ea typeface="Kaiti SC"/>
                <a:cs typeface="Kaiti SC"/>
                <a:sym typeface="Kaiti SC"/>
              </a:rPr>
              <a:t>经</a:t>
            </a:r>
            <a:endParaRPr lang="en-US" sz="11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第七十六章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6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159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857500"/>
            <a:ext cx="4889500" cy="19361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3A2A23"/>
                </a:solidFill>
                <a:latin typeface="Kaiti SC"/>
                <a:ea typeface="Kaiti SC"/>
                <a:cs typeface="Kaiti SC"/>
                <a:sym typeface="Kaiti SC"/>
              </a:rPr>
              <a:t>人之生也柔弱，其死也坚强。草木之生也柔脆，其死也枯槁。故坚强者死之徒，柔弱者生之徒。是以兵强则灭，木强则折。强大处下，柔弱处上。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159500" y="1905000"/>
            <a:ext cx="52705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6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0" y="2159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857500"/>
            <a:ext cx="48895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6322D"/>
                </a:solidFill>
                <a:latin typeface="Songti SC"/>
                <a:ea typeface="Songti SC"/>
                <a:cs typeface="Songti SC"/>
                <a:sym typeface="Songti SC"/>
              </a:rPr>
              <a:t>人活着的时候身体是柔软的，死了以后身体就变得僵硬。草木生长的时候是柔软脆弱的，死了以后就变得干枯坚硬。所以，坚强的东西属于死亡的一类，柔弱的东西属于生长的一类。因此，军队过于强大就会被消灭，树木过于坚硬就会被折断。强大的处于下位，柔弱的处于上位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049000" y="5842000"/>
            <a:ext cx="635000" cy="635000"/>
          </a:xfrm>
          <a:prstGeom prst="roundRect">
            <a:avLst>
              <a:gd name="adj" fmla="val 0"/>
            </a:avLst>
          </a:prstGeom>
          <a:solidFill>
            <a:srgbClr val="8C4B3D">
              <a:alpha val="12000"/>
            </a:srgbClr>
          </a:solidFill>
          <a:ln w="12700" cap="flat" cmpd="sng">
            <a:solidFill>
              <a:srgbClr val="8C4B3D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049000" y="58420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8C4B3D">
                    <a:alpha val="80000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道</a:t>
            </a:r>
            <a:endParaRPr lang="en-US" sz="11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第七十七章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699000" cy="22975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33231E"/>
                </a:solidFill>
                <a:latin typeface="Kaiti SC"/>
                <a:ea typeface="Kaiti SC"/>
                <a:cs typeface="Kaiti SC"/>
                <a:sym typeface="Kaiti SC"/>
              </a:rPr>
              <a:t>天之道，其犹张弓与？高者抑之，下者举之；有余者损之，不足者补之。天之道，损有余而补不足。人之道，则不然，损不足以奉有余。孰能有余以奉天下，唯有道者。是以圣人为而不恃，功成而不处，其不欲见贤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841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413000"/>
            <a:ext cx="4699000" cy="298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3231E"/>
                </a:solidFill>
                <a:latin typeface="Kaiti SC"/>
                <a:ea typeface="Kaiti SC"/>
                <a:cs typeface="Kaiti SC"/>
                <a:sym typeface="Kaiti SC"/>
              </a:rPr>
              <a:t>自然的规律，难道不像拉开弓弦吗？弦位高了就压低，低了就抬高；有余则减，不足则补。天道是减少有余的来补充不足的，而人间法则却往往剥夺不足者以供奉有余者。唯有有道之人，愿将有余之物奉献天下。因此，圣人有所作为而不恃功自傲，成就功业而不居功自满，也从不刻意彰显自己的贤能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596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1" u="none" strike="noStrike">
                <a:solidFill>
                  <a:srgbClr val="8C4B3D">
                    <a:alpha val="74902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天道平衡，损盈补亏，利而不害，为而不争 ——</a:t>
            </a:r>
            <a:endParaRPr lang="en-US" sz="11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第七十八章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76500"/>
            <a:ext cx="4699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D261E"/>
                </a:solidFill>
                <a:latin typeface="Kaiti SC"/>
                <a:ea typeface="Kaiti SC"/>
                <a:cs typeface="Kaiti SC"/>
                <a:sym typeface="Kaiti SC"/>
              </a:rPr>
              <a:t>天下莫柔弱于水，而攻坚强者莫之能胜，以其无以易之。弱之胜强，柔之胜刚，天下莫不知，莫能行。是以圣人云：“受国之垢，是谓社稷主；受国不祥，是为天下王。”正言若反。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476500"/>
            <a:ext cx="4699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B2D23"/>
                </a:solidFill>
                <a:latin typeface="Songti SC"/>
                <a:ea typeface="Songti SC"/>
                <a:cs typeface="Songti SC"/>
                <a:sym typeface="Songti SC"/>
              </a:rPr>
              <a:t>天下没有比水更柔弱的东西了，但攻克坚强之物，没有什么能胜过它，因为没有什么能替代它。弱能胜强，柔能胜刚，天下人没有不知道的，却很少有人能真正做到。因此圣人说：“能承担国家的耻辱，才称得上是国家的君主；能承担国家的灾难，才配做天下的君王。”这正是看似相反，实则至理的“正言若反”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5778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8C4B3D">
                    <a:alpha val="74902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上善若水，水善利万物而不争 ——</a:t>
            </a:r>
            <a:endParaRPr lang="en-US" sz="11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第七十九章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5F0E6">
              <a:alpha val="6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18126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和大怨，必有余怨；报怨以德，安可以为善？是以圣人执左契，而不责于人。有德司契，无德司彻。天道无亲，常与善人</a:t>
            </a:r>
            <a:r>
              <a:rPr lang="en-US" sz="1600" b="0" i="0" u="none" strike="noStrike" dirty="0">
                <a:solidFill>
                  <a:srgbClr val="3C28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5F0E6">
              <a:alpha val="6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67000"/>
            <a:ext cx="469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3C281E"/>
                </a:solidFill>
                <a:latin typeface="Songti SC"/>
                <a:ea typeface="Songti SC"/>
                <a:cs typeface="Songti SC"/>
                <a:sym typeface="Songti SC"/>
              </a:rPr>
              <a:t>调和巨大的怨恨，必然还会留下残余的怨恨；用恩德去回报怨恨，并非妥善之法。圣人虽持有借据存根，却从不向人催讨。有德者如掌借据，宽厚以待；无德者如掌税收，严苛索取。天道无偏私，始终庇佑良善之人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52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—— 宽则得众，厚积德者，无所不利</a:t>
            </a:r>
            <a:endParaRPr lang="en-US" sz="11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</a:t>
            </a:r>
            <a:r>
              <a:rPr lang="en-US" sz="3200" b="1" i="0" u="none" strike="noStrike" dirty="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 · </a:t>
            </a:r>
            <a:r>
              <a:rPr lang="en-US" sz="3200" b="1" i="0" u="none" strike="noStrike" dirty="0" err="1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第八十章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000" b="1" i="0" u="none" strike="noStrike" dirty="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</a:t>
            </a:r>
            <a:r>
              <a:rPr lang="en-US" sz="2000" b="1" i="0" u="none" strike="noStrike" dirty="0" err="1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原文</a:t>
            </a:r>
            <a:r>
              <a:rPr lang="en-US" sz="2000" b="1" i="0" u="none" strike="noStrike" dirty="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】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33241E"/>
                </a:solidFill>
                <a:latin typeface="Kaiti SC"/>
                <a:ea typeface="Kaiti SC"/>
                <a:cs typeface="Kaiti SC"/>
                <a:sym typeface="Kaiti SC"/>
              </a:rPr>
              <a:t>小国寡民。使有什伯之器而不用；使民重死而不远徙。虽有舟舆，无所乘之，虽有甲兵，无所陈之。使民复结绳而用之。甘其食，美其服，安其居，乐其俗。邻国相望，鸡犬之声相闻，民至老死，不相往来。</a:t>
            </a:r>
          </a:p>
        </p:txBody>
      </p:sp>
      <p:cxnSp>
        <p:nvCxnSpPr>
          <p:cNvPr id="5" name="Connector 5"/>
          <p:cNvCxnSpPr/>
          <p:nvPr/>
        </p:nvCxnSpPr>
        <p:spPr>
          <a:xfrm rot="-4092">
            <a:off x="761996" y="370840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1992" y="4233284"/>
            <a:ext cx="10668000" cy="17984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000" b="1" i="0" u="none" strike="noStrike" dirty="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</a:t>
            </a:r>
            <a:r>
              <a:rPr lang="en-US" sz="2000" b="1" i="0" u="none" strike="noStrike" dirty="0" err="1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韩鹏杰极简白话</a:t>
            </a:r>
            <a:r>
              <a:rPr lang="en-US" sz="2000" b="1" i="0" u="none" strike="noStrike" dirty="0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】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523C32"/>
                </a:solidFill>
                <a:latin typeface="Kaiti SC"/>
                <a:ea typeface="Kaiti SC"/>
                <a:cs typeface="Kaiti SC"/>
                <a:sym typeface="Kaiti SC"/>
              </a:rPr>
              <a:t>国家宜小，百姓宜少。纵使有各色器具也不使用，让百姓珍视生命而不向远方迁徙。虽有车船，却无处去乘坐；虽有兵器，却无地去布阵。让百姓回归到结绳记事的质朴年代。他们认为自己的食物香甜，衣着美观，居所安适，习俗可乐。邻国之间可以互相望见，鸡鸣犬吠之声彼此听闻，而百姓直到老死，也互不往来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5FD90-2FF6-0A80-7772-38C7023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D4EB258-D712-0E55-879E-E7EE02471E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B93BA3E-1A3C-4692-C6B1-77B9D599CD14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德经 · 第八十一章</a:t>
            </a:r>
            <a:endParaRPr lang="en-US"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C3C5DDC-F250-7210-FDDB-807702F05C47}"/>
              </a:ext>
            </a:extLst>
          </p:cNvPr>
          <p:cNvSpPr/>
          <p:nvPr/>
        </p:nvSpPr>
        <p:spPr>
          <a:xfrm>
            <a:off x="762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E0C1CCBC-61BE-3AC3-F301-9EA3A57A721D}"/>
              </a:ext>
            </a:extLst>
          </p:cNvPr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【原文】</a:t>
            </a:r>
            <a:endParaRPr lang="en-US"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3B075E3-FA18-63FA-1F49-70C769DB4FB5}"/>
              </a:ext>
            </a:extLst>
          </p:cNvPr>
          <p:cNvSpPr/>
          <p:nvPr/>
        </p:nvSpPr>
        <p:spPr>
          <a:xfrm>
            <a:off x="1016000" y="2540000"/>
            <a:ext cx="4699000" cy="23183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 err="1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  <a:t>信言不美，美言不信。善者不辩，辩者不善。知者不博，博者不知</a:t>
            </a:r>
            <a:r>
              <a:rPr lang="en-US" sz="1600" b="0" i="0" u="none" strike="noStrike" dirty="0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br>
              <a:rPr lang="en-US" sz="1600" b="0" i="0" u="none" strike="noStrike" dirty="0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600" b="0" i="0" u="none" strike="noStrike" dirty="0" err="1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  <a:t>圣人不积，既以为人，己愈有；既以与人，己愈多</a:t>
            </a:r>
            <a:r>
              <a:rPr lang="en-US" sz="1600" b="0" i="0" u="none" strike="noStrike" dirty="0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br>
              <a:rPr lang="en-US" sz="1600" b="0" i="0" u="none" strike="noStrike" dirty="0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600" b="0" i="0" u="none" strike="noStrike" dirty="0" err="1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  <a:t>天之道，利而不害；圣人之道，为而不争</a:t>
            </a:r>
            <a:r>
              <a:rPr lang="en-US" sz="1600" b="0" i="0" u="none" strike="noStrike" dirty="0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  <a:t>。</a:t>
            </a:r>
            <a:endParaRPr lang="en-US" sz="1100"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102A80DA-A7F8-47B9-0C53-4C93456A8D1C}"/>
              </a:ext>
            </a:extLst>
          </p:cNvPr>
          <p:cNvSpPr/>
          <p:nvPr/>
        </p:nvSpPr>
        <p:spPr>
          <a:xfrm>
            <a:off x="6223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8C4B3D">
              <a:alpha val="8000"/>
            </a:srgbClr>
          </a:solidFill>
          <a:ln w="12700" cap="flat" cmpd="sng">
            <a:solidFill>
              <a:srgbClr val="8C4B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6C27A111-F049-AE5E-ADB4-D997444D1D1B}"/>
              </a:ext>
            </a:extLst>
          </p:cNvPr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C4B3D"/>
                </a:solidFill>
                <a:latin typeface="Kaiti SC"/>
                <a:ea typeface="Kaiti SC"/>
                <a:cs typeface="Kaiti SC"/>
                <a:sym typeface="Kaiti SC"/>
              </a:rPr>
              <a:t>【韩鹏杰极简白话】</a:t>
            </a:r>
            <a:endParaRPr lang="en-US"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43C1B631-E5E3-1EF0-EEFE-B88210D32430}"/>
              </a:ext>
            </a:extLst>
          </p:cNvPr>
          <p:cNvSpPr/>
          <p:nvPr/>
        </p:nvSpPr>
        <p:spPr>
          <a:xfrm>
            <a:off x="6477000" y="25400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  <a:t>真实的话不华丽，华丽的话不真实。善良的人不辩解，辩解的人不善良。有真知的人不广博，广博的人没有真知。</a:t>
            </a:r>
            <a:br>
              <a:rPr lang="en-US" sz="1600" b="0" i="0" u="none" strike="noStrike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600" b="0" i="0" u="none" strike="noStrike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  <a:t>圣人不积累财富，他尽力帮助别人，自己反而更富有；他尽力给予别人，自己反而更充足。</a:t>
            </a:r>
            <a:br>
              <a:rPr lang="en-US" sz="1600" b="0" i="0" u="none" strike="noStrike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</a:br>
            <a:r>
              <a:rPr lang="en-US" sz="1600" b="0" i="0" u="none" strike="noStrike">
                <a:solidFill>
                  <a:srgbClr val="33261E"/>
                </a:solidFill>
                <a:latin typeface="Kaiti SC"/>
                <a:ea typeface="Kaiti SC"/>
                <a:cs typeface="Kaiti SC"/>
                <a:sym typeface="Kaiti SC"/>
              </a:rPr>
              <a:t>自然的规律，是有利而无害；圣人的准则，是有所作为而不争斗。</a:t>
            </a:r>
            <a:endParaRPr lang="en-US"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F2CE9085-76B0-8EF6-28C2-57749447896C}"/>
              </a:ext>
            </a:extLst>
          </p:cNvPr>
          <p:cNvSpPr/>
          <p:nvPr/>
        </p:nvSpPr>
        <p:spPr>
          <a:xfrm>
            <a:off x="11150600" y="5969000"/>
            <a:ext cx="533400" cy="533400"/>
          </a:xfrm>
          <a:prstGeom prst="roundRect">
            <a:avLst>
              <a:gd name="adj" fmla="val 0"/>
            </a:avLst>
          </a:prstGeom>
          <a:solidFill>
            <a:srgbClr val="8C4B3D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1FF84E6F-6D5E-D8D7-B0E0-A71D42C91114}"/>
              </a:ext>
            </a:extLst>
          </p:cNvPr>
          <p:cNvSpPr/>
          <p:nvPr/>
        </p:nvSpPr>
        <p:spPr>
          <a:xfrm>
            <a:off x="11150600" y="5969000"/>
            <a:ext cx="5334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Kaiti SC"/>
                <a:ea typeface="Kaiti SC"/>
                <a:cs typeface="Kaiti SC"/>
                <a:sym typeface="Kaiti SC"/>
              </a:rPr>
              <a:t>道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3049596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826000" y="3175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5D4037"/>
                </a:solidFill>
                <a:latin typeface="Kaiti SC"/>
                <a:ea typeface="Kaiti SC"/>
                <a:cs typeface="Kaiti SC"/>
                <a:sym typeface="Kaiti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5397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8C4B3D">
                    <a:alpha val="74902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—— 道可道，非常道；名可名，非常名 ——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7910</Words>
  <Application>Microsoft Office PowerPoint</Application>
  <PresentationFormat>宽屏</PresentationFormat>
  <Paragraphs>736</Paragraphs>
  <Slides>84</Slides>
  <Notes>84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84</vt:i4>
      </vt:variant>
    </vt:vector>
  </HeadingPairs>
  <TitlesOfParts>
    <vt:vector size="92" baseType="lpstr">
      <vt:lpstr>Kaiti SC</vt:lpstr>
      <vt:lpstr>Noto Sans SC</vt:lpstr>
      <vt:lpstr>Noto Serif SC</vt:lpstr>
      <vt:lpstr>Songti SC</vt:lpstr>
      <vt:lpstr>Zhuque Fangsong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jeremy</cp:lastModifiedBy>
  <cp:revision>4</cp:revision>
  <dcterms:modified xsi:type="dcterms:W3CDTF">2026-08-26T14:09:19Z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{"Label":"1","ContentProducer":"001191110102MACQD9K64010000","ProduceID":"7677986251086384340","ReservedCode1":"","ContentPropagator":"","PropagateID":"","ReservedCode2":""}</vt:lpwstr>
  </property>
</Properties>
</file>